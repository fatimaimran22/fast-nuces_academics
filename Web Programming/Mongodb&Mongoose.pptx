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7" r:id="rId13"/>
    <p:sldMasterId id="2147483679" r:id="rId14"/>
    <p:sldMasterId id="2147483681" r:id="rId15"/>
    <p:sldMasterId id="2147483683" r:id="rId16"/>
    <p:sldMasterId id="2147483685" r:id="rId17"/>
    <p:sldMasterId id="2147483687" r:id="rId18"/>
  </p:sldMasterIdLst>
  <p:notesMasterIdLst>
    <p:notesMasterId r:id="rId20"/>
  </p:notesMasterIdLst>
  <p:sldIdLst>
    <p:sldId id="256" r:id="rId19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492" autoAdjust="0"/>
  </p:normalViewPr>
  <p:slideViewPr>
    <p:cSldViewPr snapToGrid="0" showGuides="1"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22.xml"/><Relationship Id="rId40" Type="http://schemas.openxmlformats.org/officeDocument/2006/relationships/slide" Target="slides/slide2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0.xml"/><Relationship Id="rId38" Type="http://schemas.openxmlformats.org/officeDocument/2006/relationships/slide" Target="slides/slide19.xml"/><Relationship Id="rId37" Type="http://schemas.openxmlformats.org/officeDocument/2006/relationships/slide" Target="slides/slide18.xml"/><Relationship Id="rId36" Type="http://schemas.openxmlformats.org/officeDocument/2006/relationships/slide" Target="slides/slide17.xml"/><Relationship Id="rId35" Type="http://schemas.openxmlformats.org/officeDocument/2006/relationships/slide" Target="slides/slide16.xml"/><Relationship Id="rId34" Type="http://schemas.openxmlformats.org/officeDocument/2006/relationships/slide" Target="slides/slide15.xml"/><Relationship Id="rId33" Type="http://schemas.openxmlformats.org/officeDocument/2006/relationships/slide" Target="slides/slide14.xml"/><Relationship Id="rId32" Type="http://schemas.openxmlformats.org/officeDocument/2006/relationships/slide" Target="slides/slide13.xml"/><Relationship Id="rId31" Type="http://schemas.openxmlformats.org/officeDocument/2006/relationships/slide" Target="slides/slide12.xml"/><Relationship Id="rId30" Type="http://schemas.openxmlformats.org/officeDocument/2006/relationships/slide" Target="slides/slide1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0.xml"/><Relationship Id="rId28" Type="http://schemas.openxmlformats.org/officeDocument/2006/relationships/slide" Target="slides/slide9.xml"/><Relationship Id="rId27" Type="http://schemas.openxmlformats.org/officeDocument/2006/relationships/slide" Target="slides/slide8.xml"/><Relationship Id="rId26" Type="http://schemas.openxmlformats.org/officeDocument/2006/relationships/slide" Target="slides/slide7.xml"/><Relationship Id="rId25" Type="http://schemas.openxmlformats.org/officeDocument/2006/relationships/slide" Target="slides/slide6.xml"/><Relationship Id="rId24" Type="http://schemas.openxmlformats.org/officeDocument/2006/relationships/slide" Target="slides/slide5.xml"/><Relationship Id="rId23" Type="http://schemas.openxmlformats.org/officeDocument/2006/relationships/slide" Target="slides/slide4.xml"/><Relationship Id="rId22" Type="http://schemas.openxmlformats.org/officeDocument/2006/relationships/slide" Target="slides/slide3.xml"/><Relationship Id="rId21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-215900">
              <a:buNone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dt" idx="3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ftr" idx="3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49" name="PlaceHolder 6"/>
          <p:cNvSpPr>
            <a:spLocks noGrp="1"/>
          </p:cNvSpPr>
          <p:nvPr>
            <p:ph type="sldNum" idx="3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E6B4DA94-A93B-4060-99A7-75E3783B4AED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 panose="020F0502020204030204"/>
                <a:ea typeface="Calibri" panose="020F0502020204030204"/>
              </a:rPr>
              <a:t>.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EFCA9E5-E0A5-4A79-BB7C-A42A70E7254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244F03-53D3-4B98-85BE-8FA146F0A1A0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4983589-0776-4EB7-9FD8-AAFEE0ABF2C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7E4C6C3-EAE9-4CCB-95C0-70D225F71E5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5470FB-B119-4634-8B7C-FC58385801E2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91A02A8-868F-4B4E-A65E-1E6DB4DCD81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2C5933-8E37-4E1A-994D-3ACF4E0C3853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7B34BE2-6A25-4A68-81E8-F6E8C0D6B17B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423A17-AE61-40D3-AFFA-6571F8BF1AB2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93D096-1B23-47FF-B346-7006897BE91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B8F3708-8A8C-4B2E-9114-68A2B9C5BD7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FCFCA63-93B1-4CE5-B651-AD8907A07A7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0A1AEB3-5656-4F63-AF80-7F94D5ADDF1E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E299E08-B92A-4DF4-9325-A9793C8D14A7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67AB2FE-40F7-4763-B944-93FCEFCF89AC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C31DEE3-0E85-4F06-A459-0BA140CF5A4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A6A6B21-2DEC-4780-88EC-3DDD942DF011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3C4D96A-88BF-44F2-8CB1-DB43A566CEFC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A92668E-6AE5-43D8-B25F-5D4B45931AA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1B15636-724D-4E53-BB72-0F6366609F0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E40B96-B9B0-4872-A9CD-AB800431844C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5900" indent="-215900">
              <a:buNone/>
            </a:pPr>
            <a:endParaRPr lang="en-US" sz="1200" b="0" u="none" strike="noStrike">
              <a:solidFill>
                <a:schemeClr val="dk1"/>
              </a:solidFill>
              <a:uFillTx/>
              <a:latin typeface="Calibri" panose="020F0502020204030204"/>
              <a:ea typeface="Calibri" panose="020F0502020204030204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0B31CC-83A1-4C13-8882-B7833D5F40E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5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7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9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5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7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426672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266720" y="2053080"/>
            <a:ext cx="3274920" cy="419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7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9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0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6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7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65800" y="1854360"/>
            <a:ext cx="3820320" cy="157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n-US" sz="36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213520" y="1143000"/>
            <a:ext cx="2400480" cy="457164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66520" y="3657600"/>
            <a:ext cx="3814200" cy="137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9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20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66520" y="4800600"/>
            <a:ext cx="662076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66520" y="685800"/>
            <a:ext cx="6620760" cy="36403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866520" y="5367240"/>
            <a:ext cx="66207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0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1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32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33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6620760" cy="198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66520" y="3657600"/>
            <a:ext cx="6620760" cy="236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5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6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9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0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1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2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3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44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45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181520" y="1447920"/>
            <a:ext cx="6000840" cy="232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448280" y="3771000"/>
            <a:ext cx="5460840" cy="34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66520" y="4350600"/>
            <a:ext cx="6620760" cy="167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75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7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8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51" name="Google Shape;85;p40"/>
          <p:cNvSpPr/>
          <p:nvPr/>
        </p:nvSpPr>
        <p:spPr>
          <a:xfrm>
            <a:off x="673920" y="971280"/>
            <a:ext cx="601200" cy="19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 panose="020B0604020202020204"/>
                <a:ea typeface="Arial" panose="020B0604020202020204"/>
              </a:rPr>
              <a:t>“</a:t>
            </a:r>
            <a:endParaRPr lang="en-US" sz="1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52" name="Google Shape;86;p40"/>
          <p:cNvSpPr/>
          <p:nvPr/>
        </p:nvSpPr>
        <p:spPr>
          <a:xfrm>
            <a:off x="6999840" y="2613960"/>
            <a:ext cx="601200" cy="195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 panose="020B0604020202020204"/>
                <a:ea typeface="Arial" panose="020B0604020202020204"/>
              </a:rPr>
              <a:t>”</a:t>
            </a:r>
            <a:endParaRPr lang="en-US" sz="1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4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5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6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7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8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59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60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66520" y="3124080"/>
            <a:ext cx="6620760" cy="165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4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66520" y="4777560"/>
            <a:ext cx="662076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9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10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6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7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8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9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0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71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72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74840" y="1981080"/>
            <a:ext cx="22104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89600" y="2666880"/>
            <a:ext cx="219564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2913480" y="1981080"/>
            <a:ext cx="220248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2905560" y="2666880"/>
            <a:ext cx="221040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5344920" y="1981080"/>
            <a:ext cx="21992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body"/>
          </p:nvPr>
        </p:nvSpPr>
        <p:spPr>
          <a:xfrm>
            <a:off x="5344920" y="2666880"/>
            <a:ext cx="2199240" cy="358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cxnSp>
        <p:nvCxnSpPr>
          <p:cNvPr id="80" name="Google Shape;100;p42"/>
          <p:cNvCxnSpPr/>
          <p:nvPr/>
        </p:nvCxnSpPr>
        <p:spPr>
          <a:xfrm>
            <a:off x="2795040" y="2133360"/>
            <a:ext cx="360" cy="396288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81" name="Google Shape;101;p42"/>
          <p:cNvCxnSpPr/>
          <p:nvPr/>
        </p:nvCxnSpPr>
        <p:spPr>
          <a:xfrm>
            <a:off x="5222880" y="2133360"/>
            <a:ext cx="360" cy="396720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82" name="PlaceHolder 8"/>
          <p:cNvSpPr>
            <a:spLocks noGrp="1"/>
          </p:cNvSpPr>
          <p:nvPr>
            <p:ph type="dt" idx="1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83" name="PlaceHolder 9"/>
          <p:cNvSpPr>
            <a:spLocks noGrp="1"/>
          </p:cNvSpPr>
          <p:nvPr>
            <p:ph type="ftr" idx="1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5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6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7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8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9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90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91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89600" y="4250880"/>
            <a:ext cx="22053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89600" y="2209680"/>
            <a:ext cx="220536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489600" y="4827240"/>
            <a:ext cx="220536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2917800" y="4250880"/>
            <a:ext cx="219816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body"/>
          </p:nvPr>
        </p:nvSpPr>
        <p:spPr>
          <a:xfrm>
            <a:off x="2917800" y="2209680"/>
            <a:ext cx="219816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8" name="PlaceHolder 7"/>
          <p:cNvSpPr>
            <a:spLocks noGrp="1"/>
          </p:cNvSpPr>
          <p:nvPr>
            <p:ph type="body"/>
          </p:nvPr>
        </p:nvSpPr>
        <p:spPr>
          <a:xfrm>
            <a:off x="2916720" y="4827240"/>
            <a:ext cx="220104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9" name="PlaceHolder 8"/>
          <p:cNvSpPr>
            <a:spLocks noGrp="1"/>
          </p:cNvSpPr>
          <p:nvPr>
            <p:ph type="body"/>
          </p:nvPr>
        </p:nvSpPr>
        <p:spPr>
          <a:xfrm>
            <a:off x="5344920" y="4250880"/>
            <a:ext cx="21992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0" name="PlaceHolder 9"/>
          <p:cNvSpPr>
            <a:spLocks noGrp="1"/>
          </p:cNvSpPr>
          <p:nvPr>
            <p:ph type="body"/>
          </p:nvPr>
        </p:nvSpPr>
        <p:spPr>
          <a:xfrm>
            <a:off x="5344920" y="2209680"/>
            <a:ext cx="2199240" cy="1523520"/>
          </a:xfrm>
          <a:prstGeom prst="rect">
            <a:avLst/>
          </a:prstGeom>
          <a:noFill/>
          <a:ln w="0">
            <a:noFill/>
          </a:ln>
          <a:effectLst>
            <a:outerShdw blurRad="50760" dist="50760" dir="5400000" rotWithShape="0">
              <a:srgbClr val="000000">
                <a:alpha val="40000"/>
              </a:srgbClr>
            </a:outerShdw>
          </a:effectLst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1" name="PlaceHolder 10"/>
          <p:cNvSpPr>
            <a:spLocks noGrp="1"/>
          </p:cNvSpPr>
          <p:nvPr>
            <p:ph type="body"/>
          </p:nvPr>
        </p:nvSpPr>
        <p:spPr>
          <a:xfrm>
            <a:off x="5344920" y="4827240"/>
            <a:ext cx="220212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cxnSp>
        <p:nvCxnSpPr>
          <p:cNvPr id="102" name="Google Shape;115;p43"/>
          <p:cNvCxnSpPr/>
          <p:nvPr/>
        </p:nvCxnSpPr>
        <p:spPr>
          <a:xfrm>
            <a:off x="2795040" y="2133360"/>
            <a:ext cx="360" cy="396288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103" name="Google Shape;116;p43"/>
          <p:cNvCxnSpPr/>
          <p:nvPr/>
        </p:nvCxnSpPr>
        <p:spPr>
          <a:xfrm>
            <a:off x="5222880" y="2133360"/>
            <a:ext cx="360" cy="396720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104" name="PlaceHolder 11"/>
          <p:cNvSpPr>
            <a:spLocks noGrp="1"/>
          </p:cNvSpPr>
          <p:nvPr>
            <p:ph type="dt" idx="1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05" name="PlaceHolder 12"/>
          <p:cNvSpPr>
            <a:spLocks noGrp="1"/>
          </p:cNvSpPr>
          <p:nvPr>
            <p:ph type="ftr" idx="1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7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8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09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0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1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12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113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 rot="5400000">
            <a:off x="2086200" y="794880"/>
            <a:ext cx="4195080" cy="67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15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ftr" idx="16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19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0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1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2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3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24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125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 rot="5400000">
            <a:off x="3974040" y="2685960"/>
            <a:ext cx="5825880" cy="131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 rot="5400000">
            <a:off x="532440" y="730080"/>
            <a:ext cx="5482800" cy="556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17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ftr" idx="18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1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2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3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4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5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36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137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6620760" cy="332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7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dt" idx="19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ftr" idx="20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5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6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7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8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49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50" name="Google Shape;18;p28"/>
          <p:cNvPicPr/>
          <p:nvPr/>
        </p:nvPicPr>
        <p:blipFill>
          <a:blip r:embed="rId9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151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11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dt" idx="2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ftr" idx="2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7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8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69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0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1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72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173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66520" y="2861640"/>
            <a:ext cx="6620760" cy="191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4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866520" y="4777560"/>
            <a:ext cx="662076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2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ftr" idx="2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9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0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1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2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3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184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185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827640" y="2060640"/>
            <a:ext cx="3297600" cy="419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4241880" y="2055960"/>
            <a:ext cx="3297600" cy="41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dt" idx="25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 type="ftr" idx="26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5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6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7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8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99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00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201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827640" y="1905120"/>
            <a:ext cx="32976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827640" y="2514600"/>
            <a:ext cx="3297600" cy="374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4241880" y="1905120"/>
            <a:ext cx="329760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body"/>
          </p:nvPr>
        </p:nvSpPr>
        <p:spPr>
          <a:xfrm>
            <a:off x="4241880" y="2514600"/>
            <a:ext cx="3297600" cy="374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 type="dt" idx="27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08" name="PlaceHolder 7"/>
          <p:cNvSpPr>
            <a:spLocks noGrp="1"/>
          </p:cNvSpPr>
          <p:nvPr>
            <p:ph type="ftr" idx="28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0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1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2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3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4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15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216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r>
              <a:rPr lang="en-US" sz="4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dt" idx="29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ftr" idx="30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2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3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4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5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26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27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228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dt" idx="31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ftr" idx="32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10;p28"/>
          <p:cNvSpPr/>
          <p:nvPr/>
        </p:nvSpPr>
        <p:spPr>
          <a:xfrm>
            <a:off x="629928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E8F5FB">
                  <a:alpha val="3000"/>
                </a:srgbClr>
              </a:gs>
              <a:gs pos="36000">
                <a:srgbClr val="E8F5FB">
                  <a:alpha val="2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2" name="Google Shape;11;p28"/>
          <p:cNvSpPr/>
          <p:nvPr/>
        </p:nvSpPr>
        <p:spPr>
          <a:xfrm>
            <a:off x="5689800" y="-457200"/>
            <a:ext cx="1599840" cy="1599840"/>
          </a:xfrm>
          <a:prstGeom prst="ellipse">
            <a:avLst/>
          </a:prstGeom>
          <a:gradFill rotWithShape="0">
            <a:gsLst>
              <a:gs pos="0">
                <a:srgbClr val="E8F5FB">
                  <a:alpha val="10000"/>
                </a:srgbClr>
              </a:gs>
              <a:gs pos="36000">
                <a:srgbClr val="E8F5FB">
                  <a:alpha val="3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3" name="Google Shape;12;p28"/>
          <p:cNvSpPr/>
          <p:nvPr/>
        </p:nvSpPr>
        <p:spPr>
          <a:xfrm>
            <a:off x="6299280" y="6095880"/>
            <a:ext cx="990360" cy="990360"/>
          </a:xfrm>
          <a:prstGeom prst="ellipse">
            <a:avLst/>
          </a:prstGeom>
          <a:gradFill rotWithShape="0">
            <a:gsLst>
              <a:gs pos="0">
                <a:srgbClr val="E8F5FB">
                  <a:alpha val="5000"/>
                </a:srgbClr>
              </a:gs>
              <a:gs pos="36000">
                <a:srgbClr val="E8F5FB">
                  <a:alpha val="1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4" name="Google Shape;13;p28"/>
          <p:cNvSpPr/>
          <p:nvPr/>
        </p:nvSpPr>
        <p:spPr>
          <a:xfrm>
            <a:off x="-154080" y="2666880"/>
            <a:ext cx="4190760" cy="419076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5" name="Google Shape;14;p28"/>
          <p:cNvSpPr/>
          <p:nvPr/>
        </p:nvSpPr>
        <p:spPr>
          <a:xfrm>
            <a:off x="-839880" y="2895480"/>
            <a:ext cx="2361960" cy="2361960"/>
          </a:xfrm>
          <a:prstGeom prst="ellipse">
            <a:avLst/>
          </a:prstGeom>
          <a:gradFill rotWithShape="0">
            <a:gsLst>
              <a:gs pos="0">
                <a:srgbClr val="E8F5FB">
                  <a:alpha val="4000"/>
                </a:srgbClr>
              </a:gs>
              <a:gs pos="36000">
                <a:srgbClr val="E8F5FB">
                  <a:alpha val="4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6" name="Google Shape;15;p28"/>
          <p:cNvSpPr/>
          <p:nvPr/>
        </p:nvSpPr>
        <p:spPr>
          <a:xfrm>
            <a:off x="7745760" y="0"/>
            <a:ext cx="685440" cy="10990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1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pic>
        <p:nvPicPr>
          <p:cNvPr id="237" name="Google Shape;18;p28"/>
          <p:cNvPicPr/>
          <p:nvPr/>
        </p:nvPicPr>
        <p:blipFill>
          <a:blip r:embed="rId2"/>
          <a:stretch>
            <a:fillRect/>
          </a:stretch>
        </p:blipFill>
        <p:spPr>
          <a:xfrm>
            <a:off x="7627320" y="76320"/>
            <a:ext cx="921960" cy="92196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5000"/>
              </a:srgbClr>
            </a:outerShdw>
          </a:effectLst>
        </p:spPr>
      </p:pic>
      <p:sp>
        <p:nvSpPr>
          <p:cNvPr id="238" name="Google Shape;19;p28"/>
          <p:cNvSpPr/>
          <p:nvPr/>
        </p:nvSpPr>
        <p:spPr>
          <a:xfrm>
            <a:off x="12600" y="6248520"/>
            <a:ext cx="9118440" cy="609120"/>
          </a:xfrm>
          <a:prstGeom prst="rect">
            <a:avLst/>
          </a:prstGeom>
          <a:solidFill>
            <a:srgbClr val="0B2036">
              <a:alpha val="80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866520" y="1447920"/>
            <a:ext cx="25509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3589560" y="1447920"/>
            <a:ext cx="3897720" cy="457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866520" y="3129120"/>
            <a:ext cx="2550960" cy="2895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/>
          <a:p>
            <a:pPr marL="431800" indent="-323850">
              <a:spcBef>
                <a:spcPts val="141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FFFFFF"/>
              </a:buClr>
              <a:buSzPct val="75000"/>
              <a:buFont typeface="Symbol" panose="05050102010706020507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FFFFFF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dt" idx="33"/>
          </p:nvPr>
        </p:nvSpPr>
        <p:spPr>
          <a:xfrm rot="5400000">
            <a:off x="7495200" y="1828800"/>
            <a:ext cx="9903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ftr" idx="34"/>
          </p:nvPr>
        </p:nvSpPr>
        <p:spPr>
          <a:xfrm rot="5400000">
            <a:off x="6233400" y="3263400"/>
            <a:ext cx="3859560" cy="22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3.xml"/><Relationship Id="rId4" Type="http://schemas.openxmlformats.org/officeDocument/2006/relationships/hyperlink" Target="https://www.youtube.com/watch?v=9eWbNB6F4O4" TargetMode="External"/><Relationship Id="rId3" Type="http://schemas.openxmlformats.org/officeDocument/2006/relationships/hyperlink" Target="https://www.youtube.com/playlist?list=PL4cUxeGkcC9i0_2FF-WhtRIfIJ1lXlTZR" TargetMode="External"/><Relationship Id="rId2" Type="http://schemas.openxmlformats.org/officeDocument/2006/relationships/hyperlink" Target="https://www.mongodb.com/docs/manual/" TargetMode="External"/><Relationship Id="rId1" Type="http://schemas.openxmlformats.org/officeDocument/2006/relationships/hyperlink" Target="https://university.mongodb.com/" TargetMode="Externa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3.xml"/><Relationship Id="rId2" Type="http://schemas.openxmlformats.org/officeDocument/2006/relationships/hyperlink" Target="https://www.youtube.com/watch?v=-0exw-9YJBo" TargetMode="External"/><Relationship Id="rId1" Type="http://schemas.openxmlformats.org/officeDocument/2006/relationships/hyperlink" Target="https://www.youtube.com/watch?v=5e2o0PPC6y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800280" y="1276200"/>
            <a:ext cx="7772040" cy="18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Web Programming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251" name="Google Shape;135;p1"/>
          <p:cNvPicPr/>
          <p:nvPr/>
        </p:nvPicPr>
        <p:blipFill>
          <a:blip r:embed="rId1"/>
          <a:srcRect t="50052"/>
          <a:stretch>
            <a:fillRect/>
          </a:stretch>
        </p:blipFill>
        <p:spPr>
          <a:xfrm>
            <a:off x="1066680" y="3362400"/>
            <a:ext cx="7622640" cy="13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Google Shape;136;p1"/>
          <p:cNvSpPr/>
          <p:nvPr/>
        </p:nvSpPr>
        <p:spPr>
          <a:xfrm>
            <a:off x="3256920" y="3697560"/>
            <a:ext cx="5254920" cy="89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1270">
              <a:lnSpc>
                <a:spcPct val="107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MongoDB - Mongoose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1270">
              <a:lnSpc>
                <a:spcPct val="107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53" name="Google Shape;137;p1"/>
          <p:cNvSpPr/>
          <p:nvPr/>
        </p:nvSpPr>
        <p:spPr>
          <a:xfrm>
            <a:off x="2106720" y="4505400"/>
            <a:ext cx="2999520" cy="67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1270">
              <a:lnSpc>
                <a:spcPct val="107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Intro to  MongoDB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580320" y="1494000"/>
            <a:ext cx="7728120" cy="445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MongoDB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is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NoSQL, document-oriented database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Think of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MongoDB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like a giant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online cupboard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where you store your app’s information — like users, posts, comments — but instead of folders and files, you use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collections and documents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It stores data in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flexible format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(like JSON).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You don't have to define all the fields beforehand like you do in SQL (MySQL/PostgreSQL).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Example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7" name="Google Shape;151;g342d2d22371_0_39"/>
          <p:cNvSpPr/>
          <p:nvPr/>
        </p:nvSpPr>
        <p:spPr>
          <a:xfrm>
            <a:off x="548280" y="1440360"/>
            <a:ext cx="7836120" cy="252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Arial" panose="020B0604020202020204"/>
                <a:ea typeface="Arial" panose="020B0604020202020204"/>
              </a:rPr>
              <a:t>{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Arial" panose="020B0604020202020204"/>
                <a:ea typeface="Arial" panose="020B0604020202020204"/>
              </a:rPr>
              <a:t>  "_id": "123",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Arial" panose="020B0604020202020204"/>
                <a:ea typeface="Arial" panose="020B0604020202020204"/>
              </a:rPr>
              <a:t>  "name": "Ali",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Arial" panose="020B0604020202020204"/>
                <a:ea typeface="Arial" panose="020B0604020202020204"/>
              </a:rPr>
              <a:t>  "age": 25,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Arial" panose="020B0604020202020204"/>
                <a:ea typeface="Arial" panose="020B0604020202020204"/>
              </a:rPr>
              <a:t>  "skills": ["JavaScript", "Node.js"]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uFillTx/>
                <a:latin typeface="Arial" panose="020B0604020202020204"/>
                <a:ea typeface="Arial" panose="020B0604020202020204"/>
              </a:rPr>
              <a:t>}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205200" y="24732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Mongoose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139680" y="1428120"/>
            <a:ext cx="841608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810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Mongoose is like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translator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between your JavaScript code and the MongoDB database.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Helps you define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rules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for your data (like "age must be a number").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Makes it easier to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connect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save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and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fetch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data.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You define "blueprints" for your data using something called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Schema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Install MongoDB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600480" y="1503360"/>
            <a:ext cx="876852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3683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Go to the official MongoDB site and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download MongoDB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Install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Compass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which is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GUI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to see your data like an app — no coding needed.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With Compass: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You can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see collections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add documents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and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search easily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Great for beginners!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86587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Connecting to MongoDB with Mongoose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3" name="Google Shape;172;g342d2d22371_0_32"/>
          <p:cNvSpPr/>
          <p:nvPr/>
        </p:nvSpPr>
        <p:spPr>
          <a:xfrm>
            <a:off x="64440" y="1762920"/>
            <a:ext cx="9143640" cy="554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457200" indent="-368300">
              <a:lnSpc>
                <a:spcPct val="100000"/>
              </a:lnSpc>
              <a:buClr>
                <a:srgbClr val="000000"/>
              </a:buClr>
              <a:buFont typeface="Arial" panose="020B0604020202020204"/>
              <a:buAutoNum type="arabicPeriod"/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First, install Mongoose: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npm install mongoose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000000"/>
              </a:buClr>
              <a:buFont typeface="Arial" panose="020B0604020202020204"/>
              <a:buAutoNum type="arabicPeriod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Then in your JavaScript file: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const mongoose = require('mongoose');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mongoose.connect('mongodb://localhost:27017/myapp')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.then(() =&gt; console.log("Connected!"))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.catch(err =&gt; console.log("Error", err));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You are now ready to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read/write data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to your MongoDB!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lt1"/>
                </a:solidFill>
                <a:uFillTx/>
                <a:latin typeface="Roboto Mono"/>
                <a:ea typeface="Roboto Mono"/>
              </a:rPr>
              <a:t>localhost:27017</a:t>
            </a:r>
            <a:r>
              <a:rPr lang="en-US" sz="2200" b="0" u="none" strike="noStrike">
                <a:solidFill>
                  <a:schemeClr val="lt1"/>
                </a:solidFill>
                <a:uFillTx/>
                <a:latin typeface="Arial" panose="020B0604020202020204"/>
                <a:ea typeface="Arial" panose="020B0604020202020204"/>
              </a:rPr>
              <a:t> = MongoDB address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chemeClr val="lt1"/>
                </a:solidFill>
                <a:uFillTx/>
                <a:latin typeface="Roboto Mono"/>
                <a:ea typeface="Roboto Mono"/>
              </a:rPr>
              <a:t>myapp</a:t>
            </a:r>
            <a:r>
              <a:rPr lang="en-US" sz="2200" b="0" u="none" strike="noStrike">
                <a:solidFill>
                  <a:schemeClr val="lt1"/>
                </a:solidFill>
                <a:uFillTx/>
                <a:latin typeface="Arial" panose="020B0604020202020204"/>
                <a:ea typeface="Arial" panose="020B0604020202020204"/>
              </a:rPr>
              <a:t> = database name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Schema in Mongoose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548280" y="1386360"/>
            <a:ext cx="831600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368300">
              <a:lnSpc>
                <a:spcPct val="115000"/>
              </a:lnSpc>
              <a:spcBef>
                <a:spcPts val="1200"/>
              </a:spcBef>
              <a:buClr>
                <a:srgbClr val="EFF8FC"/>
              </a:buClr>
              <a:buFont typeface="Noto Sans Symbols"/>
              <a:buChar char="►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schema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is like a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blueprint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of your data. You tell Mongoose: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“Hey, every user must have a name (as a string), and an age (as a number).”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EFF8FC"/>
              </a:buClr>
              <a:buFont typeface="Noto Sans Symbols"/>
              <a:buChar char="►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Example: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name: String,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age: Number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});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This means: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name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should be text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age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should be a number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151560" y="431280"/>
            <a:ext cx="82108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MongoDB DataType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656640" y="1289880"/>
            <a:ext cx="7415640" cy="470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Here are the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most common types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of data you'll use: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268" name="Google Shape;187;g342d2d22371_0_16"/>
          <p:cNvPicPr/>
          <p:nvPr/>
        </p:nvPicPr>
        <p:blipFill>
          <a:blip r:embed="rId1"/>
          <a:stretch>
            <a:fillRect/>
          </a:stretch>
        </p:blipFill>
        <p:spPr>
          <a:xfrm>
            <a:off x="738000" y="1788480"/>
            <a:ext cx="7667280" cy="4979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84600" y="150480"/>
            <a:ext cx="821088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Validation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0" name="Google Shape;194;g342d2d22371_0_3"/>
          <p:cNvSpPr/>
          <p:nvPr/>
        </p:nvSpPr>
        <p:spPr>
          <a:xfrm>
            <a:off x="84600" y="956520"/>
            <a:ext cx="8974080" cy="531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457200" indent="-36830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required: true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→ Field must be filled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min: 18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→ Minimum value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maxLength: 50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→ Max characters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●"/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match: /pattern/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→ Match a regex pattern</a:t>
            </a: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endParaRPr lang="en-US" sz="21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1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name: { type: String, required: true },</a:t>
            </a:r>
            <a:endParaRPr lang="en-US" sz="21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email: { type: String, match: /@/, required: true },</a:t>
            </a:r>
            <a:endParaRPr lang="en-US" sz="21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age: { type: Number, min: 18 },</a:t>
            </a:r>
            <a:endParaRPr lang="en-US" sz="21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isActive: { type: Boolean, default: true }</a:t>
            </a:r>
            <a:endParaRPr lang="en-US" sz="21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1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41720" y="550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User Schema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226800" y="1160640"/>
            <a:ext cx="891720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name: {type: String, required: true, minLength: 3},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email: {type: String, match: /.+\@.+\..+/, required: true},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age: {type: Number, min: 18,max: 60},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isActive: {type: Boolean,default: true}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min &amp; minLength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559800" y="1246680"/>
            <a:ext cx="8314920" cy="425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min: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It sets the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minimum value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a number field is allowed to have.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minLength: 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It sets the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minimum number of characters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in a string.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age: { type: Number, min: 18 }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name: { type: String, minLength: 3 }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});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This means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age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must be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at least 18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This means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name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must be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at least 3 characters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long.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Timestamp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559080" y="1160640"/>
            <a:ext cx="8584920" cy="4106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Mongoose can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automatically track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when your data is created and updated.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const postSchema = new mongoose.Schema({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title: String,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content: String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}, { timestamps: true });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You’ll now get: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createdAt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When the document was made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updatedAt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: When it was last changed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Defaults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784800" y="1418760"/>
            <a:ext cx="8358840" cy="4718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In Mongoose, you can set default values for fields when 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documents are created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. This is useful when certain fields 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should always have a value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if not provided by the user.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name: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age: { type: Number, default: 18 },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isActive: { type: Boolean, default: true }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age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will default to 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18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if no value is provided.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isActive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will default to </a:t>
            </a:r>
            <a:r>
              <a:rPr lang="en-US" sz="20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true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if not specified.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Timestamps: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Automatically set the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createdAt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and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updatedAt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dates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Relations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656640" y="1331280"/>
            <a:ext cx="7727400" cy="449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MongoDB is a NoSQL database, so it's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document-based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not table-based.</a:t>
            </a:r>
            <a:br>
              <a:rPr sz="2200"/>
            </a:b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But we still need to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connect data across collections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, like: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User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has many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Posts</a:t>
            </a:r>
            <a:br>
              <a:rPr sz="2200"/>
            </a:b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Post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has many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Comments</a:t>
            </a:r>
            <a:br>
              <a:rPr sz="2200"/>
            </a:b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Product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has many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Reviews</a:t>
            </a:r>
            <a:br>
              <a:rPr sz="2200"/>
            </a:b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</a:rPr>
              <a:t> 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81000"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These connections are called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relationships between documents</a:t>
            </a: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Cascadia Code" panose="020B0609020000020004" charset="0"/>
                <a:ea typeface="Arial" panose="020B0604020202020204"/>
                <a:cs typeface="Cascadia Code" panose="020B0609020000020004" charset="0"/>
              </a:rPr>
              <a:t>1-to-1 Relationship (User ↔ Profile)</a:t>
            </a:r>
            <a:endParaRPr lang="en-US" sz="4200" b="0" u="none" strike="noStrike">
              <a:solidFill>
                <a:schemeClr val="dk2"/>
              </a:solidFill>
              <a:uFillTx/>
              <a:latin typeface="Cascadia Code" panose="020B0609020000020004" charset="0"/>
              <a:ea typeface="Arial" panose="020B0604020202020204"/>
              <a:cs typeface="Cascadia Code" panose="020B0609020000020004" charset="0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803988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5000" lnSpcReduction="19999"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const userSchema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name: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email: { type: String, required: true, unique: true },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profile: { type: mongoose.Schema.Types.ObjectId, ref: </a:t>
            </a:r>
            <a:endParaRPr lang="en-US" sz="2000" b="0" u="none" strike="noStrike">
              <a:solidFill>
                <a:schemeClr val="dk1"/>
              </a:solidFill>
              <a:uFillTx/>
              <a:latin typeface="Cascadia Code" panose="020B0609020000020004" charset="0"/>
              <a:ea typeface="Roboto Mono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'Profile' } 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// Reference to Profile (optional)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const profileSchema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bio: { type: String },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location: { type: String },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 user: { type: mongoose.Schema.Types.ObjectId, ref: 'User' } 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//</a:t>
            </a:r>
            <a:endParaRPr lang="en-US" sz="2000" b="0" u="none" strike="noStrike">
              <a:solidFill>
                <a:srgbClr val="188038"/>
              </a:solidFill>
              <a:uFillTx/>
              <a:latin typeface="Cascadia Code" panose="020B0609020000020004" charset="0"/>
              <a:ea typeface="Roboto Mono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 Reference to User (inverse reference)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scadia Code" panose="020B0609020000020004" charset="0"/>
                <a:ea typeface="Roboto Mono"/>
                <a:cs typeface="Cascadia Code" panose="020B0609020000020004" charset="0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Cascadia Code" panose="020B0609020000020004" charset="0"/>
              <a:cs typeface="Cascadia Code" panose="020B06090200000200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/>
          </p:nvPr>
        </p:nvSpPr>
        <p:spPr>
          <a:xfrm>
            <a:off x="365400" y="558720"/>
            <a:ext cx="8341200" cy="535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User: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"_id": ObjectId("661191abcde1234567890001"),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"name": "John Doe",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"email": "john@example.com",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Profile: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"_id": ObjectId("661191fghij1234567890002"),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"bio": "Full-stack developer and tech enthusiast.",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"location": "San Francisco",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"user": ObjectId("661191abcde1234567890001")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1 to Many (User ↔ Posts)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484560" y="1515600"/>
            <a:ext cx="853344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userSchema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name: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email: { type: String, required: true, unique: true }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postSchema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title: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content: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userId: { type: mongoose.Schema.Types.ObjectId, ref: 'User' }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// Reference to User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/>
          </p:nvPr>
        </p:nvSpPr>
        <p:spPr>
          <a:xfrm>
            <a:off x="698760" y="644760"/>
            <a:ext cx="7825320" cy="548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User: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"_id": ObjectId("66118f84d2e4f32ff7a12345"),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"name": "Alice",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"email": "alice@example.com"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Post: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"_id": ObjectId("66119021d2e4f32ff7a67890"),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"title": "My First Blog",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"content": "This is my very first blog post using Mongoose!",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"userId": ObjectId("66118f84d2e4f32ff7a12345")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// Points to Alice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538560" y="33444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Many to Many (Students ↔ Courses)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838404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studentSchema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name: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courses: [{ type: mongoose.Schema.Types.ObjectId, ref: 'Course' }]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// Reference to Course (array)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const courseSchema = new mongoose.Schema({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title: { type: String, required: true },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students: [{ type: mongoose.Schema.Types.ObjectId, ref: 'Student' }] 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Reference to Student (array)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});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/>
          </p:nvPr>
        </p:nvSpPr>
        <p:spPr>
          <a:xfrm>
            <a:off x="96840" y="0"/>
            <a:ext cx="8384040" cy="419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19999"/>
          </a:bodyPr>
          <a:lstStyle/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Student: 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{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"_id": ObjectId("studentId123"),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"name": "Alice",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"email": "alice@example.com",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"courses": [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	ObjectId("courseId456"), 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Refers to “Programming"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	ObjectId("courseId789")  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Refers to "Development"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  ]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 Mono"/>
                <a:ea typeface="Roboto Mono"/>
              </a:rPr>
              <a:t>}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0" name="Google Shape;269;g3491b5befd3_0_97"/>
          <p:cNvSpPr/>
          <p:nvPr/>
        </p:nvSpPr>
        <p:spPr>
          <a:xfrm>
            <a:off x="204120" y="3364560"/>
            <a:ext cx="4084560" cy="359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Courses: 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{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"_id": ObjectId("courseId456"),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"title": "Programming",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"description": "A basic course on programming concepts",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"students": [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	ObjectId("studentId123")</a:t>
            </a:r>
            <a:r>
              <a:rPr lang="en-US" sz="16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Refers to Alice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]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}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  <p:sp>
        <p:nvSpPr>
          <p:cNvPr id="291" name="Google Shape;270;g3491b5befd3_0_97"/>
          <p:cNvSpPr/>
          <p:nvPr/>
        </p:nvSpPr>
        <p:spPr>
          <a:xfrm>
            <a:off x="4572000" y="3278520"/>
            <a:ext cx="4571640" cy="261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{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"_id": ObjectId("courseId789"),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"title": "Development",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"description": "An advanced course on building web applications",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"students": [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	ObjectId("studentId123") </a:t>
            </a:r>
            <a:r>
              <a:rPr lang="en-US" sz="16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// Refers to Alice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  ]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Roboto Mono"/>
                <a:ea typeface="Roboto Mono"/>
              </a:rPr>
              <a:t>}</a:t>
            </a:r>
            <a:endParaRPr lang="en-US" sz="1600" b="0" u="none" strike="noStrike">
              <a:solidFill>
                <a:srgbClr val="FFFFFF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920" cy="14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 panose="020B0604020202020204"/>
                <a:ea typeface="Arial" panose="020B0604020202020204"/>
              </a:rPr>
              <a:t>Resources</a:t>
            </a:r>
            <a:endParaRPr lang="en-US" sz="4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484560" y="1206360"/>
            <a:ext cx="8376840" cy="502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MongoDB (General)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1. MongoDB University (Official &amp; Free!)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2385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Website:</a:t>
            </a:r>
            <a:r>
              <a:rPr lang="en-US" sz="1500" b="0" u="sng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  <a:hlinkClick r:id="rId1"/>
              </a:rPr>
              <a:t> </a:t>
            </a:r>
            <a:r>
              <a:rPr lang="en-US" sz="1500" b="0" u="sng" strike="noStrike">
                <a:solidFill>
                  <a:schemeClr val="hlink"/>
                </a:solidFill>
                <a:uFillTx/>
                <a:latin typeface="Arial" panose="020B0604020202020204"/>
                <a:ea typeface="Arial" panose="020B0604020202020204"/>
                <a:hlinkClick r:id="rId1"/>
              </a:rPr>
              <a:t>university.mongodb.com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238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Courses: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914400" lvl="1" indent="-3238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○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MongoDB for Developers (Beginner/Intermediate)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914400" lvl="1" indent="-3238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○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MongoDB Aggregation Framework (Advanced)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2. MongoDB Manual (Official Docs)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2385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Website:</a:t>
            </a:r>
            <a:r>
              <a:rPr lang="en-US" sz="1500" b="0" u="sng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  <a:hlinkClick r:id="rId2"/>
              </a:rPr>
              <a:t> </a:t>
            </a:r>
            <a:r>
              <a:rPr lang="en-US" sz="1500" b="0" u="sng" strike="noStrike">
                <a:solidFill>
                  <a:schemeClr val="hlink"/>
                </a:solidFill>
                <a:uFillTx/>
                <a:latin typeface="Arial" panose="020B0604020202020204"/>
                <a:ea typeface="Arial" panose="020B0604020202020204"/>
                <a:hlinkClick r:id="rId2"/>
              </a:rPr>
              <a:t>https://www.mongodb.com/docs/manual/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3. YouTube Channel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2385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The Net Ninja – MongoDB Tutorial for Beginners</a:t>
            </a:r>
            <a:br>
              <a:rPr sz="1500"/>
            </a:br>
            <a:r>
              <a:rPr lang="en-US" sz="1500" b="0" u="sng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  <a:hlinkClick r:id="rId3"/>
              </a:rPr>
              <a:t> </a:t>
            </a:r>
            <a:r>
              <a:rPr lang="en-US" sz="1500" b="0" u="sng" strike="noStrike">
                <a:solidFill>
                  <a:schemeClr val="hlink"/>
                </a:solidFill>
                <a:uFillTx/>
                <a:latin typeface="Arial" panose="020B0604020202020204"/>
                <a:ea typeface="Arial" panose="020B0604020202020204"/>
                <a:hlinkClick r:id="rId3"/>
              </a:rPr>
              <a:t>Watch on YouTube</a:t>
            </a:r>
            <a:r>
              <a:rPr lang="en-US" sz="15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Very beginner-friendly with clear explanations.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238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Academind – MongoDB Crash Course</a:t>
            </a:r>
            <a:br>
              <a:rPr sz="1500"/>
            </a:br>
            <a:r>
              <a:rPr lang="en-US" sz="1500" b="0" u="sng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  <a:hlinkClick r:id="rId4"/>
              </a:rPr>
              <a:t> </a:t>
            </a:r>
            <a:r>
              <a:rPr lang="en-US" sz="1500" b="0" u="sng" strike="noStrike">
                <a:solidFill>
                  <a:schemeClr val="hlink"/>
                </a:solidFill>
                <a:uFillTx/>
                <a:latin typeface="Arial" panose="020B0604020202020204"/>
                <a:ea typeface="Arial" panose="020B0604020202020204"/>
                <a:hlinkClick r:id="rId4"/>
              </a:rPr>
              <a:t>Watch here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/>
          </p:nvPr>
        </p:nvSpPr>
        <p:spPr>
          <a:xfrm>
            <a:off x="388440" y="0"/>
            <a:ext cx="7744320" cy="60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Mongoose (ODM for MongoDB with Node.js)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4. Mongoose Official Docs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2385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Website:</a:t>
            </a:r>
            <a:r>
              <a:rPr lang="en-US" sz="15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https://mongoosejs.com/docs/</a:t>
            </a:r>
            <a:br>
              <a:rPr sz="1500"/>
            </a:br>
            <a:r>
              <a:rPr lang="en-US" sz="1500" b="0" u="none" strike="noStrike">
                <a:solidFill>
                  <a:schemeClr val="dk1"/>
                </a:solidFill>
                <a:uFillTx/>
                <a:latin typeface="Arial" panose="020B0604020202020204"/>
              </a:rPr>
              <a:t> 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5. FreeCodeCamp Articles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2385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Mongoose + MongoDB Beginner Article</a:t>
            </a:r>
            <a:br>
              <a:rPr sz="1500"/>
            </a:br>
            <a:r>
              <a:rPr lang="en-US" sz="15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Read here</a:t>
            </a:r>
            <a:br>
              <a:rPr sz="1500"/>
            </a:br>
            <a:r>
              <a:rPr lang="en-US" sz="1500" b="0" u="none" strike="noStrike">
                <a:solidFill>
                  <a:schemeClr val="dk1"/>
                </a:solidFill>
                <a:uFillTx/>
                <a:latin typeface="Arial" panose="020B0604020202020204"/>
              </a:rPr>
              <a:t> 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238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MongoDB + Express.js + Node.js full backend tutorial</a:t>
            </a:r>
            <a:br>
              <a:rPr sz="1500"/>
            </a:br>
            <a:r>
              <a:rPr lang="en-US" sz="15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Full Stack Guide</a:t>
            </a:r>
            <a:br>
              <a:rPr sz="1500"/>
            </a:br>
            <a:r>
              <a:rPr lang="en-US" sz="1500" b="0" u="none" strike="noStrike">
                <a:solidFill>
                  <a:schemeClr val="dk1"/>
                </a:solidFill>
                <a:uFillTx/>
                <a:latin typeface="Arial" panose="020B0604020202020204"/>
              </a:rPr>
              <a:t> 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6. YouTube - Mongoose Crash Courses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2385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Code with Mosh</a:t>
            </a:r>
            <a:r>
              <a:rPr lang="en-US" sz="1500" b="0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 – Mongoose Basics:</a:t>
            </a:r>
            <a:br>
              <a:rPr sz="1500"/>
            </a:br>
            <a:r>
              <a:rPr lang="en-US" sz="1500" b="0" u="sng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  <a:hlinkClick r:id="rId1"/>
              </a:rPr>
              <a:t> </a:t>
            </a:r>
            <a:r>
              <a:rPr lang="en-US" sz="1500" b="0" u="sng" strike="noStrike">
                <a:solidFill>
                  <a:schemeClr val="hlink"/>
                </a:solidFill>
                <a:uFillTx/>
                <a:latin typeface="Arial" panose="020B0604020202020204"/>
                <a:ea typeface="Arial" panose="020B0604020202020204"/>
                <a:hlinkClick r:id="rId1"/>
              </a:rPr>
              <a:t>Watch here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57200" indent="-323850">
              <a:lnSpc>
                <a:spcPct val="115000"/>
              </a:lnSpc>
              <a:buClr>
                <a:srgbClr val="000000"/>
              </a:buClr>
              <a:buFont typeface="Arial" panose="020B0604020202020204"/>
              <a:buChar char="●"/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</a:rPr>
              <a:t>Traversy Media – MERN Stack Backend (Mongoose + MongoDB)</a:t>
            </a:r>
            <a:br>
              <a:rPr sz="1500"/>
            </a:br>
            <a:r>
              <a:rPr lang="en-US" sz="1500" b="0" u="sng" strike="noStrike">
                <a:solidFill>
                  <a:schemeClr val="dk1"/>
                </a:solidFill>
                <a:uFillTx/>
                <a:latin typeface="Arial" panose="020B0604020202020204"/>
                <a:ea typeface="Arial" panose="020B0604020202020204"/>
                <a:hlinkClick r:id="rId2"/>
              </a:rPr>
              <a:t> </a:t>
            </a:r>
            <a:r>
              <a:rPr lang="en-US" sz="1500" b="0" u="sng" strike="noStrike">
                <a:solidFill>
                  <a:schemeClr val="hlink"/>
                </a:solidFill>
                <a:uFillTx/>
                <a:latin typeface="Arial" panose="020B0604020202020204"/>
                <a:ea typeface="Arial" panose="020B0604020202020204"/>
                <a:hlinkClick r:id="rId2"/>
              </a:rPr>
              <a:t>Watch here</a:t>
            </a: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200"/>
              </a:spcBef>
              <a:buNone/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7062</Words>
  <Application>WPS Presentation</Application>
  <PresentationFormat>On-screen Show (4:3)</PresentationFormat>
  <Paragraphs>280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17</vt:i4>
      </vt:variant>
      <vt:variant>
        <vt:lpstr>幻灯片标题</vt:lpstr>
      </vt:variant>
      <vt:variant>
        <vt:i4>22</vt:i4>
      </vt:variant>
    </vt:vector>
  </HeadingPairs>
  <TitlesOfParts>
    <vt:vector size="53" baseType="lpstr">
      <vt:lpstr>Arial</vt:lpstr>
      <vt:lpstr>SimSun</vt:lpstr>
      <vt:lpstr>Wingdings</vt:lpstr>
      <vt:lpstr>Arial</vt:lpstr>
      <vt:lpstr>Symbol</vt:lpstr>
      <vt:lpstr>Times New Roman</vt:lpstr>
      <vt:lpstr>Calibri</vt:lpstr>
      <vt:lpstr>Roboto Mono</vt:lpstr>
      <vt:lpstr>Segoe Print</vt:lpstr>
      <vt:lpstr>Noto Sans Symbols</vt:lpstr>
      <vt:lpstr>Microsoft YaHei</vt:lpstr>
      <vt:lpstr>Arial Unicode MS</vt:lpstr>
      <vt:lpstr>Times New Roman</vt:lpstr>
      <vt:lpstr>Cascadia Code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Web Programming</vt:lpstr>
      <vt:lpstr>Intro to  MongoDB</vt:lpstr>
      <vt:lpstr>Example</vt:lpstr>
      <vt:lpstr>Mongoose</vt:lpstr>
      <vt:lpstr>Install MongoDB</vt:lpstr>
      <vt:lpstr>Connecting to MongoDB with Mongoose</vt:lpstr>
      <vt:lpstr>Schema in Mongoose</vt:lpstr>
      <vt:lpstr>MongoDB DataType</vt:lpstr>
      <vt:lpstr>Validation</vt:lpstr>
      <vt:lpstr>User Schema</vt:lpstr>
      <vt:lpstr>min &amp; minLength</vt:lpstr>
      <vt:lpstr>Timestamp</vt:lpstr>
      <vt:lpstr>Defaults</vt:lpstr>
      <vt:lpstr>Relations</vt:lpstr>
      <vt:lpstr>1-to-1 Relationship (User ↔ Profile)</vt:lpstr>
      <vt:lpstr>PowerPoint 演示文稿</vt:lpstr>
      <vt:lpstr>1 to Many (User ↔ Posts)</vt:lpstr>
      <vt:lpstr>PowerPoint 演示文稿</vt:lpstr>
      <vt:lpstr>Many to Many (Students ↔ Courses)</vt:lpstr>
      <vt:lpstr>PowerPoint 演示文稿</vt:lpstr>
      <vt:lpstr>Resources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Programming</dc:title>
  <dc:creator>Administrator</dc:creator>
  <cp:lastModifiedBy>dell</cp:lastModifiedBy>
  <cp:revision>3</cp:revision>
  <dcterms:created xsi:type="dcterms:W3CDTF">2012-07-03T07:32:00Z</dcterms:created>
  <dcterms:modified xsi:type="dcterms:W3CDTF">2025-12-22T08:50:12Z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6F4DFF21AEE24830BBEFD033AE878478_12</vt:lpwstr>
  </property>
  <property fmtid="{D5CDD505-2E9C-101B-9397-08002B2CF9AE}" pid="3" name="KSOProductBuildVer">
    <vt:lpwstr>1033-12.2.0.23155</vt:lpwstr>
  </property>
</Properties>
</file>