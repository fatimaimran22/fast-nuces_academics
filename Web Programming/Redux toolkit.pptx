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3" r:id="rId4"/>
    <p:sldMasterId id="2147483655" r:id="rId5"/>
  </p:sldMasterIdLst>
  <p:notesMasterIdLst>
    <p:notesMasterId r:id="rId7"/>
  </p:notes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0080625" cy="5670550"/>
  <p:notesSz cx="7559675" cy="1069149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86" userDrawn="1">
          <p15:clr>
            <a:srgbClr val="A4A3A4"/>
          </p15:clr>
        </p15:guide>
        <p15:guide id="2" pos="317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9731" autoAdjust="0"/>
  </p:normalViewPr>
  <p:slideViewPr>
    <p:cSldViewPr snapToGrid="0" showGuides="1">
      <p:cViewPr varScale="1">
        <p:scale>
          <a:sx n="77" d="100"/>
          <a:sy n="77" d="100"/>
        </p:scale>
        <p:origin x="752" y="60"/>
      </p:cViewPr>
      <p:guideLst>
        <p:guide orient="horz" pos="1786"/>
        <p:guide pos="317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3.xml"/><Relationship Id="rId8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17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0" Type="http://schemas.openxmlformats.org/officeDocument/2006/relationships/slide" Target="slides/slide14.xml"/><Relationship Id="rId2" Type="http://schemas.openxmlformats.org/officeDocument/2006/relationships/theme" Target="theme/theme1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18E5A-603D-438C-96BE-9C2756E46428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D26206-5A87-4E66-B5F2-A6BAF052BEB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D26206-5A87-4E66-B5F2-A6BAF052BEB9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D26206-5A87-4E66-B5F2-A6BAF052BEB9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0560" cy="32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251BDF22-F905-49F7-B1A3-4FC8581AD221}" type="slidenum">
              <a:rPr/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560" cy="32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941DFCF8-F054-460F-8B0E-20ADF0823351}" type="slidenum">
              <a:rPr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0560" cy="32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C181857E-52D9-40AA-ADBC-84B3182E9183}" type="slidenum">
              <a:rPr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0560" cy="32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487452BF-83B3-4594-B50B-A1C8E8F28325}" type="slidenum">
              <a:rPr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0560" cy="32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D6DE2045-7A7C-4BDB-A68C-D090FCE1363A}" type="slidenum">
              <a:rPr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3920" cy="389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7200" cy="389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98C3B0D-65A5-4528-BA78-7FF04561540C}" type="slidenum">
              <a: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4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7200" cy="389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560" cy="32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ftr" idx="4"/>
          </p:nvPr>
        </p:nvSpPr>
        <p:spPr>
          <a:xfrm>
            <a:off x="3447360" y="5165280"/>
            <a:ext cx="3193920" cy="389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sldNum" idx="5"/>
          </p:nvPr>
        </p:nvSpPr>
        <p:spPr>
          <a:xfrm>
            <a:off x="7227360" y="5165280"/>
            <a:ext cx="2347200" cy="389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975C604-6EC1-4915-9841-D48DF5791118}" type="slidenum">
              <a: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4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dt" idx="6"/>
          </p:nvPr>
        </p:nvSpPr>
        <p:spPr>
          <a:xfrm>
            <a:off x="504000" y="5165280"/>
            <a:ext cx="2347200" cy="389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ftr" idx="7"/>
          </p:nvPr>
        </p:nvSpPr>
        <p:spPr>
          <a:xfrm>
            <a:off x="3447360" y="5165280"/>
            <a:ext cx="3193920" cy="389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sldNum" idx="8"/>
          </p:nvPr>
        </p:nvSpPr>
        <p:spPr>
          <a:xfrm>
            <a:off x="7227360" y="5165280"/>
            <a:ext cx="2347200" cy="389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B346C56-D267-4FF3-858C-B4CBE95F50BC}" type="slidenum">
              <a: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4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dt" idx="9"/>
          </p:nvPr>
        </p:nvSpPr>
        <p:spPr>
          <a:xfrm>
            <a:off x="504000" y="5165280"/>
            <a:ext cx="2347200" cy="389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ftr" idx="10"/>
          </p:nvPr>
        </p:nvSpPr>
        <p:spPr>
          <a:xfrm>
            <a:off x="3447360" y="5165280"/>
            <a:ext cx="3193920" cy="389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sldNum" idx="11"/>
          </p:nvPr>
        </p:nvSpPr>
        <p:spPr>
          <a:xfrm>
            <a:off x="7227360" y="5165280"/>
            <a:ext cx="2347200" cy="389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0A61CAB-9238-4E4F-8AF9-B27ECD87AE3E}" type="slidenum">
              <a: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</a:fld>
            <a:endParaRPr lang="en-US" sz="14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dt" idx="12"/>
          </p:nvPr>
        </p:nvSpPr>
        <p:spPr>
          <a:xfrm>
            <a:off x="504000" y="5165280"/>
            <a:ext cx="2347200" cy="389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 panose="02020603050405020304"/>
              </a:rPr>
              <a:t> </a:t>
            </a:r>
            <a:endParaRPr lang="en-US" sz="1400" b="0" u="none" strike="noStrike">
              <a:solidFill>
                <a:srgbClr val="000000"/>
              </a:solidFill>
              <a:uFillTx/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Redux</a:t>
            </a:r>
            <a:endParaRPr lang="en-US" sz="4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What is Redux</a:t>
            </a:r>
            <a:endParaRPr lang="en-US" sz="4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560" cy="3701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/>
          <a:p>
            <a:pPr marL="431800" indent="-323850">
              <a:lnSpc>
                <a:spcPct val="100000"/>
              </a:lnSpc>
              <a:spcBef>
                <a:spcPts val="1190"/>
              </a:spcBef>
              <a:spcAft>
                <a:spcPts val="99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Redux is a global state management library.</a:t>
            </a:r>
            <a:endParaRPr lang="en-US" sz="1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431800" indent="-323850">
              <a:lnSpc>
                <a:spcPct val="100000"/>
              </a:lnSpc>
              <a:spcBef>
                <a:spcPts val="1190"/>
              </a:spcBef>
              <a:spcAft>
                <a:spcPts val="99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Redux has three major components:</a:t>
            </a:r>
            <a:endParaRPr lang="en-US" sz="1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431800" indent="0">
              <a:lnSpc>
                <a:spcPct val="100000"/>
              </a:lnSpc>
              <a:spcBef>
                <a:spcPts val="1190"/>
              </a:spcBef>
              <a:spcAft>
                <a:spcPts val="990"/>
              </a:spcAft>
              <a:buNone/>
              <a:tabLst>
                <a:tab pos="0" algn="l"/>
              </a:tabLst>
            </a:pPr>
            <a:r>
              <a:rPr lang="en-US" sz="1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1. Store – A centralized state container that holds the entire application's state.</a:t>
            </a:r>
            <a:endParaRPr lang="en-US" sz="1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431800" indent="0">
              <a:lnSpc>
                <a:spcPct val="100000"/>
              </a:lnSpc>
              <a:spcBef>
                <a:spcPts val="1190"/>
              </a:spcBef>
              <a:spcAft>
                <a:spcPts val="990"/>
              </a:spcAft>
              <a:buNone/>
              <a:tabLst>
                <a:tab pos="0" algn="l"/>
              </a:tabLst>
            </a:pPr>
            <a:r>
              <a:rPr lang="en-US" sz="1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2. Actions – Plain JavaScript objects that describe an event or intent to change the state.</a:t>
            </a:r>
            <a:endParaRPr lang="en-US" sz="1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431800" indent="0">
              <a:lnSpc>
                <a:spcPct val="100000"/>
              </a:lnSpc>
              <a:spcBef>
                <a:spcPts val="1190"/>
              </a:spcBef>
              <a:spcAft>
                <a:spcPts val="990"/>
              </a:spcAft>
              <a:buNone/>
              <a:tabLst>
                <a:tab pos="0" algn="l"/>
              </a:tabLst>
            </a:pPr>
            <a:r>
              <a:rPr lang="en-US" sz="1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3. Reducers – Pure functions that take the current state and an action, then return a new state.</a:t>
            </a:r>
            <a:endParaRPr lang="en-US" sz="1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431800" indent="-323850">
              <a:lnSpc>
                <a:spcPct val="100000"/>
              </a:lnSpc>
              <a:spcBef>
                <a:spcPts val="1190"/>
              </a:spcBef>
              <a:spcAft>
                <a:spcPts val="99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tabLst>
                <a:tab pos="0" algn="l"/>
              </a:tabLst>
            </a:pPr>
            <a:r>
              <a:rPr lang="en-US" sz="1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A pure function in Redux (or in general programming) is a function that:</a:t>
            </a:r>
            <a:endParaRPr lang="en-US" sz="1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431800" indent="0">
              <a:lnSpc>
                <a:spcPct val="100000"/>
              </a:lnSpc>
              <a:spcBef>
                <a:spcPts val="1190"/>
              </a:spcBef>
              <a:spcAft>
                <a:spcPts val="990"/>
              </a:spcAft>
              <a:buNone/>
              <a:tabLst>
                <a:tab pos="0" algn="l"/>
              </a:tabLst>
            </a:pPr>
            <a:r>
              <a:rPr lang="en-US" sz="1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1. Always returns the same output for the same input – No randomness or dependence on external variables.</a:t>
            </a:r>
            <a:endParaRPr lang="en-US" sz="1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431800" indent="0">
              <a:lnSpc>
                <a:spcPct val="100000"/>
              </a:lnSpc>
              <a:spcBef>
                <a:spcPts val="1190"/>
              </a:spcBef>
              <a:spcAft>
                <a:spcPts val="990"/>
              </a:spcAft>
              <a:buNone/>
              <a:tabLst>
                <a:tab pos="0" algn="l"/>
              </a:tabLst>
            </a:pPr>
            <a:r>
              <a:rPr lang="en-US" sz="1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2. Has no side effects – It doesn’t modify external state, make API calls, or mutate data.</a:t>
            </a:r>
            <a:endParaRPr lang="en-US" sz="1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431800" indent="0">
              <a:lnSpc>
                <a:spcPct val="100000"/>
              </a:lnSpc>
              <a:spcBef>
                <a:spcPts val="1190"/>
              </a:spcBef>
              <a:spcAft>
                <a:spcPts val="990"/>
              </a:spcAft>
              <a:buNone/>
              <a:tabLst>
                <a:tab pos="0" algn="l"/>
              </a:tabLst>
            </a:pPr>
            <a:r>
              <a:rPr lang="en-US" sz="10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3. In Redux, reducers must be pure functions because they take the current state and an action, then return a new state without modifying the existing state.</a:t>
            </a:r>
            <a:endParaRPr lang="en-US" sz="10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/>
          <p:cNvPicPr/>
          <p:nvPr/>
        </p:nvPicPr>
        <p:blipFill>
          <a:blip r:embed="rId1"/>
          <a:stretch>
            <a:fillRect/>
          </a:stretch>
        </p:blipFill>
        <p:spPr>
          <a:xfrm>
            <a:off x="23040" y="197280"/>
            <a:ext cx="10078560" cy="52902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Libraries Required</a:t>
            </a:r>
            <a:endParaRPr lang="en-US" sz="4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560" cy="32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800" indent="-323850">
              <a:lnSpc>
                <a:spcPct val="100000"/>
              </a:lnSpc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 </a:t>
            </a:r>
            <a:r>
              <a:rPr lang="en-US" sz="3200" b="1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@reduxjs/toolkit</a:t>
            </a:r>
            <a:r>
              <a:rPr lang="en-US" sz="32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 (provides a container to keep the global state)</a:t>
            </a:r>
            <a:endParaRPr lang="en-US" sz="3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431800" indent="-323850">
              <a:lnSpc>
                <a:spcPct val="100000"/>
              </a:lnSpc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1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react-redux</a:t>
            </a:r>
            <a:r>
              <a:rPr lang="en-US" sz="32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 (provides hooks to access redux state as well as dispatch actions to redux to update the state in react. This library binds react with redux state.)</a:t>
            </a:r>
            <a:endParaRPr lang="en-US" sz="3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Actions and Reducers</a:t>
            </a:r>
            <a:endParaRPr lang="en-US" sz="4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560" cy="32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20000"/>
          </a:bodyPr>
          <a:lstStyle/>
          <a:p>
            <a:pPr marL="431800" indent="-323850">
              <a:lnSpc>
                <a:spcPct val="100000"/>
              </a:lnSpc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In redux, we don’t directly update the state. </a:t>
            </a:r>
            <a:endParaRPr lang="en-US" sz="3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431800" indent="-323850">
              <a:lnSpc>
                <a:spcPct val="100000"/>
              </a:lnSpc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Instead, we dispatch an action to redux that tells redux which part of the state to update and how to update:</a:t>
            </a:r>
            <a:endParaRPr lang="en-US" sz="3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431800" indent="0">
              <a:lnSpc>
                <a:spcPct val="100000"/>
              </a:lnSpc>
              <a:spcBef>
                <a:spcPts val="1415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{ type: “counter/increment”, payload: 3}</a:t>
            </a:r>
            <a:endParaRPr lang="en-US" sz="3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431800" indent="-323850">
              <a:lnSpc>
                <a:spcPct val="100000"/>
              </a:lnSpc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The above action instructs redux to increase the value of counter state by 3.</a:t>
            </a:r>
            <a:endParaRPr lang="en-US" sz="3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431800" indent="-323850">
              <a:lnSpc>
                <a:spcPct val="100000"/>
              </a:lnSpc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When this action is dispatched, redux will call the reducer responsible for incrementing the value of counter.</a:t>
            </a:r>
            <a:endParaRPr lang="en-US" sz="3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/>
          </p:nvPr>
        </p:nvSpPr>
        <p:spPr>
          <a:xfrm>
            <a:off x="300960" y="140760"/>
            <a:ext cx="9070560" cy="32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800" indent="-323850">
              <a:lnSpc>
                <a:spcPct val="100000"/>
              </a:lnSpc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Dispatch an action to redux in react:</a:t>
            </a:r>
            <a:endParaRPr lang="en-US" sz="3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indent="0">
              <a:lnSpc>
                <a:spcPct val="100000"/>
              </a:lnSpc>
              <a:spcBef>
                <a:spcPts val="1415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431800" indent="-323850">
              <a:lnSpc>
                <a:spcPct val="100000"/>
              </a:lnSpc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Reducer responsible for updating counter state:</a:t>
            </a:r>
            <a:endParaRPr lang="en-US" sz="3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431800" indent="0">
              <a:lnSpc>
                <a:spcPct val="100000"/>
              </a:lnSpc>
              <a:spcBef>
                <a:spcPts val="1415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431800" indent="0">
              <a:lnSpc>
                <a:spcPct val="100000"/>
              </a:lnSpc>
              <a:spcBef>
                <a:spcPts val="1415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431800" indent="0">
              <a:lnSpc>
                <a:spcPct val="100000"/>
              </a:lnSpc>
              <a:spcBef>
                <a:spcPts val="1415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431800" indent="0">
              <a:lnSpc>
                <a:spcPct val="100000"/>
              </a:lnSpc>
              <a:spcBef>
                <a:spcPts val="1415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431800" indent="0">
              <a:lnSpc>
                <a:spcPct val="100000"/>
              </a:lnSpc>
              <a:spcBef>
                <a:spcPts val="1415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pic>
        <p:nvPicPr>
          <p:cNvPr id="38" name="Picture 37"/>
          <p:cNvPicPr/>
          <p:nvPr/>
        </p:nvPicPr>
        <p:blipFill>
          <a:blip r:embed="rId1"/>
          <a:stretch>
            <a:fillRect/>
          </a:stretch>
        </p:blipFill>
        <p:spPr>
          <a:xfrm>
            <a:off x="2514600" y="685800"/>
            <a:ext cx="4090680" cy="348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" name="Picture 38"/>
          <p:cNvPicPr/>
          <p:nvPr/>
        </p:nvPicPr>
        <p:blipFill>
          <a:blip r:embed="rId2"/>
          <a:stretch>
            <a:fillRect/>
          </a:stretch>
        </p:blipFill>
        <p:spPr>
          <a:xfrm>
            <a:off x="2286000" y="2199600"/>
            <a:ext cx="4799520" cy="28292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560" cy="32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9999"/>
          </a:bodyPr>
          <a:lstStyle/>
          <a:p>
            <a:pPr marL="431800" indent="-323850">
              <a:lnSpc>
                <a:spcPct val="100000"/>
              </a:lnSpc>
              <a:spcBef>
                <a:spcPts val="1190"/>
              </a:spcBef>
              <a:spcAft>
                <a:spcPts val="99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 dirty="0" err="1">
                <a:solidFill>
                  <a:srgbClr val="000000"/>
                </a:solidFill>
                <a:uFillTx/>
                <a:latin typeface="Arial" panose="020B0604020202020204"/>
              </a:rPr>
              <a:t>Redux</a:t>
            </a:r>
            <a:r>
              <a:rPr lang="en-US" sz="2000" b="0" u="none" strike="noStrike" dirty="0">
                <a:solidFill>
                  <a:srgbClr val="000000"/>
                </a:solidFill>
                <a:uFillTx/>
                <a:latin typeface="Arial" panose="020B0604020202020204"/>
              </a:rPr>
              <a:t> only passes the specific part of the state that a reducer is responsible for.</a:t>
            </a:r>
            <a:endParaRPr lang="en-US" sz="2000" b="0" u="none" strike="noStrike" dirty="0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431800" indent="-323850">
              <a:lnSpc>
                <a:spcPct val="100000"/>
              </a:lnSpc>
              <a:spcBef>
                <a:spcPts val="1190"/>
              </a:spcBef>
              <a:spcAft>
                <a:spcPts val="99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 dirty="0">
                <a:solidFill>
                  <a:srgbClr val="000000"/>
                </a:solidFill>
                <a:uFillTx/>
                <a:latin typeface="Arial" panose="020B0604020202020204"/>
              </a:rPr>
              <a:t>For example, a reducer managing counter will only receive the counter state, not other parts of the global state.</a:t>
            </a:r>
            <a:endParaRPr lang="en-US" sz="2000" b="0" u="none" strike="noStrike" dirty="0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431800" indent="-323850">
              <a:lnSpc>
                <a:spcPct val="100000"/>
              </a:lnSpc>
              <a:spcBef>
                <a:spcPts val="1190"/>
              </a:spcBef>
              <a:spcAft>
                <a:spcPts val="99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 dirty="0">
                <a:solidFill>
                  <a:srgbClr val="000000"/>
                </a:solidFill>
                <a:uFillTx/>
                <a:latin typeface="Arial" panose="020B0604020202020204"/>
              </a:rPr>
              <a:t>When </a:t>
            </a:r>
            <a:r>
              <a:rPr lang="en-US" sz="2000" b="0" u="none" strike="noStrike" dirty="0" err="1">
                <a:solidFill>
                  <a:srgbClr val="000000"/>
                </a:solidFill>
                <a:uFillTx/>
                <a:latin typeface="Arial" panose="020B0604020202020204"/>
              </a:rPr>
              <a:t>Redux</a:t>
            </a:r>
            <a:r>
              <a:rPr lang="en-US" sz="2000" b="0" u="none" strike="noStrike" dirty="0">
                <a:solidFill>
                  <a:srgbClr val="000000"/>
                </a:solidFill>
                <a:uFillTx/>
                <a:latin typeface="Arial" panose="020B0604020202020204"/>
              </a:rPr>
              <a:t> initializes, it automatically dispatches an @@INIT action, allowing reducers to return their initial state.</a:t>
            </a:r>
            <a:endParaRPr lang="en-US" sz="2000" b="0" u="none" strike="noStrike" dirty="0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431800" indent="-323850">
              <a:lnSpc>
                <a:spcPct val="100000"/>
              </a:lnSpc>
              <a:spcBef>
                <a:spcPts val="1190"/>
              </a:spcBef>
              <a:spcAft>
                <a:spcPts val="99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 dirty="0">
                <a:solidFill>
                  <a:srgbClr val="000000"/>
                </a:solidFill>
                <a:uFillTx/>
                <a:latin typeface="Arial" panose="020B0604020202020204"/>
              </a:rPr>
              <a:t>On subsequent actions, </a:t>
            </a:r>
            <a:r>
              <a:rPr lang="en-US" sz="2000" b="0" u="none" strike="noStrike" dirty="0" err="1">
                <a:solidFill>
                  <a:srgbClr val="000000"/>
                </a:solidFill>
                <a:uFillTx/>
                <a:latin typeface="Arial" panose="020B0604020202020204"/>
              </a:rPr>
              <a:t>Redux</a:t>
            </a:r>
            <a:r>
              <a:rPr lang="en-US" sz="2000" b="0" u="none" strike="noStrike" dirty="0">
                <a:solidFill>
                  <a:srgbClr val="000000"/>
                </a:solidFill>
                <a:uFillTx/>
                <a:latin typeface="Arial" panose="020B0604020202020204"/>
              </a:rPr>
              <a:t> passes the current state to the reducer instead of the initial state, ensuring updates are applied based on the existing state.</a:t>
            </a:r>
            <a:endParaRPr lang="en-US" sz="2000" b="0" u="none" strike="noStrike" dirty="0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431800" indent="0">
              <a:lnSpc>
                <a:spcPct val="100000"/>
              </a:lnSpc>
              <a:spcBef>
                <a:spcPts val="1190"/>
              </a:spcBef>
              <a:spcAft>
                <a:spcPts val="990"/>
              </a:spcAft>
              <a:buNone/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Create a Store in Redux</a:t>
            </a:r>
            <a:endParaRPr lang="en-US" sz="4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pic>
        <p:nvPicPr>
          <p:cNvPr id="43" name="Picture 42"/>
          <p:cNvPicPr/>
          <p:nvPr/>
        </p:nvPicPr>
        <p:blipFill>
          <a:blip r:embed="rId1"/>
          <a:stretch>
            <a:fillRect/>
          </a:stretch>
        </p:blipFill>
        <p:spPr>
          <a:xfrm>
            <a:off x="3033000" y="2233080"/>
            <a:ext cx="3595320" cy="14234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Wrap the App with Redux Store</a:t>
            </a:r>
            <a:endParaRPr lang="en-US" sz="4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pic>
        <p:nvPicPr>
          <p:cNvPr id="45" name="Picture 44"/>
          <p:cNvPicPr/>
          <p:nvPr/>
        </p:nvPicPr>
        <p:blipFill>
          <a:blip r:embed="rId1"/>
          <a:stretch>
            <a:fillRect/>
          </a:stretch>
        </p:blipFill>
        <p:spPr>
          <a:xfrm>
            <a:off x="2057400" y="1600200"/>
            <a:ext cx="5759640" cy="29552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0560" cy="124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Access and Update Redux State in a Component</a:t>
            </a:r>
            <a:endParaRPr lang="en-US" sz="4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pic>
        <p:nvPicPr>
          <p:cNvPr id="47" name="Picture 46"/>
          <p:cNvPicPr/>
          <p:nvPr/>
        </p:nvPicPr>
        <p:blipFill>
          <a:blip r:embed="rId1"/>
          <a:stretch>
            <a:fillRect/>
          </a:stretch>
        </p:blipFill>
        <p:spPr>
          <a:xfrm>
            <a:off x="1828800" y="1324440"/>
            <a:ext cx="6041520" cy="40449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560" cy="32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800" indent="-323850">
              <a:lnSpc>
                <a:spcPct val="100000"/>
              </a:lnSpc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The code (mainly reducer and actions) we have discussed so far is for simple redux.</a:t>
            </a:r>
            <a:endParaRPr lang="en-US" sz="3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431800" indent="-323850">
              <a:lnSpc>
                <a:spcPct val="100000"/>
              </a:lnSpc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We now have a new and better approach for writing redux logic using redux toolkit.</a:t>
            </a:r>
            <a:endParaRPr lang="en-US" sz="3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228600" y="1143000"/>
            <a:ext cx="9070560" cy="32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40000" lnSpcReduction="19999"/>
          </a:bodyPr>
          <a:lstStyle/>
          <a:p>
            <a:pPr marL="431800" indent="-323850">
              <a:lnSpc>
                <a:spcPct val="100000"/>
              </a:lnSpc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In redux toolkit, state is made up of slices. </a:t>
            </a:r>
            <a:endParaRPr lang="en-US" sz="3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431800" indent="-323850">
              <a:lnSpc>
                <a:spcPct val="100000"/>
              </a:lnSpc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Each slice is responsible for managing the state it contains.</a:t>
            </a:r>
            <a:endParaRPr lang="en-US" sz="3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431800" indent="-323850">
              <a:lnSpc>
                <a:spcPct val="100000"/>
              </a:lnSpc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In addition to the state, a slice will also have reducer and actions for updating the state it manages.</a:t>
            </a:r>
            <a:endParaRPr lang="en-US" sz="3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431800" indent="-323850">
              <a:lnSpc>
                <a:spcPct val="100000"/>
              </a:lnSpc>
              <a:spcBef>
                <a:spcPts val="1190"/>
              </a:spcBef>
              <a:spcAft>
                <a:spcPts val="99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A "slice" is a collection of Redux reducer logic and actions for a single feature in your app, typically defined together in a single file. The name comes from splitting up the root Redux state object into multiple "slices" of state.</a:t>
            </a:r>
            <a:endParaRPr lang="en-US" sz="3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431800" indent="-323850">
              <a:lnSpc>
                <a:spcPct val="100000"/>
              </a:lnSpc>
              <a:spcBef>
                <a:spcPts val="1190"/>
              </a:spcBef>
              <a:spcAft>
                <a:spcPts val="99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In a slice, we don’t need to manually create actions since a slice will generate action creators (functions that return an action) for us.</a:t>
            </a:r>
            <a:endParaRPr lang="en-US" sz="3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431800" indent="-323850">
              <a:lnSpc>
                <a:spcPct val="100000"/>
              </a:lnSpc>
              <a:spcBef>
                <a:spcPts val="1190"/>
              </a:spcBef>
              <a:spcAft>
                <a:spcPts val="99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For each subreducer (or case reducer), we will get an action creator of the same name.</a:t>
            </a:r>
            <a:endParaRPr lang="en-US" sz="3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431800" indent="-323850">
              <a:lnSpc>
                <a:spcPct val="100000"/>
              </a:lnSpc>
              <a:spcBef>
                <a:spcPts val="1190"/>
              </a:spcBef>
              <a:spcAft>
                <a:spcPts val="99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We will dispatch the action returned by an action creator which will then call the corresponding case reducer function.</a:t>
            </a:r>
            <a:endParaRPr lang="en-US" sz="3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 marL="431800" indent="-323850">
              <a:lnSpc>
                <a:spcPct val="100000"/>
              </a:lnSpc>
              <a:spcBef>
                <a:spcPts val="1190"/>
              </a:spcBef>
              <a:spcAft>
                <a:spcPts val="99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In redux toolkit, we are allowed to mutate the state. Redux will internally convert state mutation into immutable state update using immer library.</a:t>
            </a:r>
            <a:endParaRPr lang="en-US" sz="32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504000" y="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counterSlice.js</a:t>
            </a:r>
            <a:endParaRPr lang="en-US" sz="4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pic>
        <p:nvPicPr>
          <p:cNvPr id="53" name="Picture 52"/>
          <p:cNvPicPr/>
          <p:nvPr/>
        </p:nvPicPr>
        <p:blipFill>
          <a:blip r:embed="rId1"/>
          <a:stretch>
            <a:fillRect/>
          </a:stretch>
        </p:blipFill>
        <p:spPr>
          <a:xfrm>
            <a:off x="2900160" y="1090440"/>
            <a:ext cx="4871160" cy="3709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" name="Rectangle 53"/>
          <p:cNvSpPr/>
          <p:nvPr/>
        </p:nvSpPr>
        <p:spPr>
          <a:xfrm>
            <a:off x="685800" y="4884120"/>
            <a:ext cx="8109360" cy="60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increment and decrement are case reducers. For each case reducer, we have 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an action creator of the same name.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504000" y="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BioDataSlice.js</a:t>
            </a:r>
            <a:endParaRPr lang="en-US" sz="4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pic>
        <p:nvPicPr>
          <p:cNvPr id="56" name="Picture 55"/>
          <p:cNvPicPr/>
          <p:nvPr/>
        </p:nvPicPr>
        <p:blipFill>
          <a:blip r:embed="rId1"/>
          <a:stretch>
            <a:fillRect/>
          </a:stretch>
        </p:blipFill>
        <p:spPr>
          <a:xfrm>
            <a:off x="2743200" y="861120"/>
            <a:ext cx="5157720" cy="43956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Create Store in Redux toolkit</a:t>
            </a:r>
            <a:endParaRPr lang="en-US" sz="4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pic>
        <p:nvPicPr>
          <p:cNvPr id="58" name="Picture 57"/>
          <p:cNvPicPr/>
          <p:nvPr/>
        </p:nvPicPr>
        <p:blipFill>
          <a:blip r:embed="rId1"/>
          <a:stretch>
            <a:fillRect/>
          </a:stretch>
        </p:blipFill>
        <p:spPr>
          <a:xfrm>
            <a:off x="3337920" y="1470960"/>
            <a:ext cx="3747600" cy="21855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560" cy="945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Wrap React App with Redux Store</a:t>
            </a:r>
            <a:endParaRPr lang="en-US" sz="4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pic>
        <p:nvPicPr>
          <p:cNvPr id="60" name="Picture 59"/>
          <p:cNvPicPr/>
          <p:nvPr/>
        </p:nvPicPr>
        <p:blipFill>
          <a:blip r:embed="rId1"/>
          <a:stretch>
            <a:fillRect/>
          </a:stretch>
        </p:blipFill>
        <p:spPr>
          <a:xfrm>
            <a:off x="1143000" y="1371600"/>
            <a:ext cx="3252240" cy="2756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1" name="Picture 60"/>
          <p:cNvPicPr/>
          <p:nvPr/>
        </p:nvPicPr>
        <p:blipFill>
          <a:blip r:embed="rId2"/>
          <a:stretch>
            <a:fillRect/>
          </a:stretch>
        </p:blipFill>
        <p:spPr>
          <a:xfrm>
            <a:off x="4671000" y="1219680"/>
            <a:ext cx="4929120" cy="220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" name="Rectangle 61"/>
          <p:cNvSpPr/>
          <p:nvPr/>
        </p:nvSpPr>
        <p:spPr>
          <a:xfrm>
            <a:off x="1600200" y="4343400"/>
            <a:ext cx="929160" cy="34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  <a:ea typeface="DejaVu Sans"/>
              </a:rPr>
              <a:t>App.jsx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6400800" y="3429000"/>
            <a:ext cx="1018080" cy="573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  <a:ea typeface="DejaVu Sans"/>
              </a:rPr>
              <a:t>Main.jsx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0560" cy="124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uFillTx/>
                <a:latin typeface="Arial" panose="020B0604020202020204"/>
              </a:rPr>
              <a:t>Access and Update Redux toolkit State in a Component</a:t>
            </a:r>
            <a:endParaRPr lang="en-US" sz="44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  <p:pic>
        <p:nvPicPr>
          <p:cNvPr id="65" name="Picture 64"/>
          <p:cNvPicPr/>
          <p:nvPr/>
        </p:nvPicPr>
        <p:blipFill>
          <a:blip r:embed="rId1"/>
          <a:stretch>
            <a:fillRect/>
          </a:stretch>
        </p:blipFill>
        <p:spPr>
          <a:xfrm>
            <a:off x="2286000" y="1371600"/>
            <a:ext cx="5355720" cy="327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" name="Rectangle 65"/>
          <p:cNvSpPr/>
          <p:nvPr/>
        </p:nvSpPr>
        <p:spPr>
          <a:xfrm>
            <a:off x="3641760" y="4682520"/>
            <a:ext cx="4129560" cy="111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 panose="020B0604020202020204"/>
                <a:ea typeface="DejaVu Sans"/>
              </a:rPr>
              <a:t>components/Counter.jsx</a:t>
            </a:r>
            <a:endParaRPr lang="en-US" sz="1800" b="0" u="none" strike="noStrike">
              <a:solidFill>
                <a:srgbClr val="000000"/>
              </a:solidFill>
              <a:uFillTx/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3469</Words>
  <Application>WPS Presentation</Application>
  <PresentationFormat>Custom</PresentationFormat>
  <Paragraphs>79</Paragraphs>
  <Slides>17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17</vt:i4>
      </vt:variant>
    </vt:vector>
  </HeadingPairs>
  <TitlesOfParts>
    <vt:vector size="31" baseType="lpstr">
      <vt:lpstr>Arial</vt:lpstr>
      <vt:lpstr>SimSun</vt:lpstr>
      <vt:lpstr>Wingdings</vt:lpstr>
      <vt:lpstr>Arial</vt:lpstr>
      <vt:lpstr>Times New Roman</vt:lpstr>
      <vt:lpstr>Symbol</vt:lpstr>
      <vt:lpstr>DejaVu Sans</vt:lpstr>
      <vt:lpstr>Calibri</vt:lpstr>
      <vt:lpstr>Microsoft YaHei</vt:lpstr>
      <vt:lpstr>Arial Unicode MS</vt:lpstr>
      <vt:lpstr>Office</vt:lpstr>
      <vt:lpstr>Office</vt:lpstr>
      <vt:lpstr>Office</vt:lpstr>
      <vt:lpstr>Office</vt:lpstr>
      <vt:lpstr>Redux</vt:lpstr>
      <vt:lpstr>What is Redux</vt:lpstr>
      <vt:lpstr>PowerPoint 演示文稿</vt:lpstr>
      <vt:lpstr>Libraries Required</vt:lpstr>
      <vt:lpstr>Actions and Reducers</vt:lpstr>
      <vt:lpstr>PowerPoint 演示文稿</vt:lpstr>
      <vt:lpstr>PowerPoint 演示文稿</vt:lpstr>
      <vt:lpstr>Create a Store in Redux</vt:lpstr>
      <vt:lpstr>Wrap the App with Redux Store</vt:lpstr>
      <vt:lpstr>Access and Update Redux State in a Component</vt:lpstr>
      <vt:lpstr>PowerPoint 演示文稿</vt:lpstr>
      <vt:lpstr>PowerPoint 演示文稿</vt:lpstr>
      <vt:lpstr>counterSlice.js</vt:lpstr>
      <vt:lpstr>BioDataSlice.js</vt:lpstr>
      <vt:lpstr>Create Store in Redux toolkit</vt:lpstr>
      <vt:lpstr>Wrap React App with Redux Store</vt:lpstr>
      <vt:lpstr>Access and Update Redux toolkit State in a Component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Redux</dc:title>
  <dc:creator/>
  <cp:lastModifiedBy>dell</cp:lastModifiedBy>
  <cp:revision>67</cp:revision>
  <dcterms:created xsi:type="dcterms:W3CDTF">2025-03-13T23:45:00Z</dcterms:created>
  <dcterms:modified xsi:type="dcterms:W3CDTF">2025-12-24T09:36:13Z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0A9558F0E3144EB1A46FD8E07DD0EAE0_12</vt:lpwstr>
  </property>
  <property fmtid="{D5CDD505-2E9C-101B-9397-08002B2CF9AE}" pid="3" name="KSOProductBuildVer">
    <vt:lpwstr>1033-12.2.0.23155</vt:lpwstr>
  </property>
</Properties>
</file>