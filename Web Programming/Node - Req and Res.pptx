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83" r:id="rId16"/>
    <p:sldMasterId id="2147483685" r:id="rId17"/>
    <p:sldMasterId id="2147483687" r:id="rId18"/>
    <p:sldMasterId id="2147483689" r:id="rId19"/>
    <p:sldMasterId id="2147483691" r:id="rId20"/>
    <p:sldMasterId id="2147483693" r:id="rId21"/>
    <p:sldMasterId id="2147483695" r:id="rId22"/>
    <p:sldMasterId id="2147483697" r:id="rId23"/>
    <p:sldMasterId id="2147483699" r:id="rId24"/>
    <p:sldMasterId id="2147483701" r:id="rId25"/>
  </p:sldMasterIdLst>
  <p:notesMasterIdLst>
    <p:notesMasterId r:id="rId27"/>
  </p:notesMasterIdLst>
  <p:sldIdLst>
    <p:sldId id="256" r:id="rId26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19.xml"/><Relationship Id="rId44" Type="http://schemas.openxmlformats.org/officeDocument/2006/relationships/slide" Target="slides/slide18.xml"/><Relationship Id="rId43" Type="http://schemas.openxmlformats.org/officeDocument/2006/relationships/slide" Target="slides/slide17.xml"/><Relationship Id="rId42" Type="http://schemas.openxmlformats.org/officeDocument/2006/relationships/slide" Target="slides/slide16.xml"/><Relationship Id="rId41" Type="http://schemas.openxmlformats.org/officeDocument/2006/relationships/slide" Target="slides/slide15.xml"/><Relationship Id="rId40" Type="http://schemas.openxmlformats.org/officeDocument/2006/relationships/slide" Target="slides/slide1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3.xml"/><Relationship Id="rId38" Type="http://schemas.openxmlformats.org/officeDocument/2006/relationships/slide" Target="slides/slide12.xml"/><Relationship Id="rId37" Type="http://schemas.openxmlformats.org/officeDocument/2006/relationships/slide" Target="slides/slide11.xml"/><Relationship Id="rId36" Type="http://schemas.openxmlformats.org/officeDocument/2006/relationships/slide" Target="slides/slide10.xml"/><Relationship Id="rId35" Type="http://schemas.openxmlformats.org/officeDocument/2006/relationships/slide" Target="slides/slide9.xml"/><Relationship Id="rId34" Type="http://schemas.openxmlformats.org/officeDocument/2006/relationships/slide" Target="slides/slide8.xml"/><Relationship Id="rId33" Type="http://schemas.openxmlformats.org/officeDocument/2006/relationships/slide" Target="slides/slide7.xml"/><Relationship Id="rId32" Type="http://schemas.openxmlformats.org/officeDocument/2006/relationships/slide" Target="slides/slide6.xml"/><Relationship Id="rId31" Type="http://schemas.openxmlformats.org/officeDocument/2006/relationships/slide" Target="slides/slide5.xml"/><Relationship Id="rId30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3.xml"/><Relationship Id="rId28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3804ED4-2100-4919-BFA3-69200A2C004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F1F21E-81A8-440C-AAF7-B99316F0CA8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69F7DF-2689-465F-8240-30CAC579B40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21C666-E75E-4725-B8A9-575AC9A26E5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CB7207-7CFA-4FA1-9E66-7A014A8D25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86E353-0EED-46F9-BD90-E408D20D459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8568CC-9960-4E7B-9A6A-04BEF253CF4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62D278-B7CF-4371-93F4-2A36A15E0AD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C0E3F4-667E-4F36-87F8-9ED36DFCA41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E03343-BBD7-401C-AF98-775AEFEF1A4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EF4BFB-9A72-49EA-A9A9-4474C0A255B6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83EA76-C10F-42E3-B75D-4A1CE04208C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A54FED-1C6F-4016-ABB0-28980B9DE2F6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083BBC-1878-4368-A284-ABC310DBCD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19FEF7-93C0-4188-A579-A721A0B9006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477AE3-5038-4CBB-9F95-93B3F8BBF7A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470744-E242-45CB-B8EE-E5DD0B56E75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367D06-2C6A-4BD7-8A66-63AFC16C4F6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DEB39A-8F08-44C5-A346-6B6765CFCAE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60368F4-15D0-4F8E-A11C-38D09E588A1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0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8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ftr" idx="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7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ftr" idx="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7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ftr" idx="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37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8" name="Google Shape;85;p40"/>
          <p:cNvSpPr/>
          <p:nvPr/>
        </p:nvSpPr>
        <p:spPr>
          <a:xfrm>
            <a:off x="673920" y="971280"/>
            <a:ext cx="60084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9" name="Google Shape;86;p40"/>
          <p:cNvSpPr/>
          <p:nvPr/>
        </p:nvSpPr>
        <p:spPr>
          <a:xfrm>
            <a:off x="6999840" y="2613960"/>
            <a:ext cx="60084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5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6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8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49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1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8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59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cxnSp>
        <p:nvCxnSpPr>
          <p:cNvPr id="60" name="Google Shape;100;p42"/>
          <p:cNvCxnSpPr/>
          <p:nvPr/>
        </p:nvCxnSpPr>
        <p:spPr>
          <a:xfrm>
            <a:off x="2795040" y="2133360"/>
            <a:ext cx="720" cy="396324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61" name="Google Shape;101;p42"/>
          <p:cNvCxnSpPr/>
          <p:nvPr/>
        </p:nvCxnSpPr>
        <p:spPr>
          <a:xfrm>
            <a:off x="5222880" y="2133360"/>
            <a:ext cx="720" cy="39675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ftr" idx="1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1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7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cxnSp>
        <p:nvCxnSpPr>
          <p:cNvPr id="72" name="Google Shape;115;p43"/>
          <p:cNvCxnSpPr/>
          <p:nvPr/>
        </p:nvCxnSpPr>
        <p:spPr>
          <a:xfrm>
            <a:off x="2795040" y="2133360"/>
            <a:ext cx="720" cy="396324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73" name="Google Shape;116;p43"/>
          <p:cNvCxnSpPr/>
          <p:nvPr/>
        </p:nvCxnSpPr>
        <p:spPr>
          <a:xfrm>
            <a:off x="5222880" y="2133360"/>
            <a:ext cx="720" cy="39675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74" name="PlaceHolder 1"/>
          <p:cNvSpPr>
            <a:spLocks noGrp="1"/>
          </p:cNvSpPr>
          <p:nvPr>
            <p:ph type="ftr" idx="1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dt" idx="1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8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9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0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1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8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83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ftr" idx="1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1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7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0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1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9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93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1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dt" idx="1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7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8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9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0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1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0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03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1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2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3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4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5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1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17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ftr" idx="2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 idx="2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3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3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7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8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9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0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1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4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43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26672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ftr" idx="2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dt" idx="2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3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4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5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6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7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58" name="Google Shape;18;p28"/>
          <p:cNvPicPr/>
          <p:nvPr/>
        </p:nvPicPr>
        <p:blipFill>
          <a:blip r:embed="rId9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59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ftr" idx="2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dt" idx="2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8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8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ftr" idx="2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dt" idx="3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9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9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ftr" idx="3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dt" idx="3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0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0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ftr" idx="3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dt" idx="3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5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6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7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8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9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1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11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ftr" idx="3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3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8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9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0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1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2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23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24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ftr" idx="3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dt" idx="3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8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9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0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1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2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33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34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426672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ftr" idx="3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dt" idx="4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4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5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6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7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8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4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50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ftr" idx="4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dt" idx="4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4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5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6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7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8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5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60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ftr" idx="4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4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6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7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8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9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0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71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72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ftr" idx="4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dt" idx="4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10;p28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6" name="Google Shape;11;p28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7" name="Google Shape;12;p28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8" name="Google Shape;13;p28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9" name="Google Shape;14;p28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0" name="Google Shape;15;p28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81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82" name="Google Shape;19;p28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ftr" idx="4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dt" idx="4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168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Web Programming</a:t>
            </a: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92" name="Google Shape;135;p1"/>
          <p:cNvPicPr/>
          <p:nvPr/>
        </p:nvPicPr>
        <p:blipFill>
          <a:blip r:embed="rId1"/>
          <a:srcRect t="50052"/>
          <a:stretch>
            <a:fillRect/>
          </a:stretch>
        </p:blipFill>
        <p:spPr>
          <a:xfrm>
            <a:off x="1066680" y="3362400"/>
            <a:ext cx="7622280" cy="1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Google Shape;136;p1"/>
          <p:cNvSpPr/>
          <p:nvPr/>
        </p:nvSpPr>
        <p:spPr>
          <a:xfrm>
            <a:off x="3256920" y="3697560"/>
            <a:ext cx="5254560" cy="541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 marL="1270">
              <a:lnSpc>
                <a:spcPct val="107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Express - NODE - request - response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4" name="Google Shape;137;p1"/>
          <p:cNvSpPr/>
          <p:nvPr/>
        </p:nvSpPr>
        <p:spPr>
          <a:xfrm>
            <a:off x="2106720" y="4505400"/>
            <a:ext cx="29991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 marL="1270">
              <a:lnSpc>
                <a:spcPct val="107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What is Express?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580320" y="1494000"/>
            <a:ext cx="7727760" cy="444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Express is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minimal and flexible Node.js web framework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It simplifies building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web servers and APIs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Built on top of Node.js’s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http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module.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Handles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routing, middleware, request/response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easily.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"Express helps you build fast and clean server-side applications."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Why Use Express?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98" name="Google Shape;151;g34b178a6ba3_0_2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589400"/>
            <a:ext cx="9143280" cy="3678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Core Features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Routing: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Define URLs and methods easily</a:t>
            </a:r>
            <a:br>
              <a:rPr sz="2200"/>
            </a:b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Middleware: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Code that runs before the route handler</a:t>
            </a:r>
            <a:br>
              <a:rPr sz="2200"/>
            </a:b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Error Handling: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Built-in tools for handling errors</a:t>
            </a:r>
            <a:br>
              <a:rPr sz="2200"/>
            </a:b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Request &amp; Response Utilities: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Send JSON, status codes, etc.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205200" y="24732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Common Express Methods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02" name="Google Shape;165;g3441e215438_0_27"/>
          <p:cNvPicPr/>
          <p:nvPr/>
        </p:nvPicPr>
        <p:blipFill>
          <a:blip r:embed="rId1"/>
          <a:stretch>
            <a:fillRect/>
          </a:stretch>
        </p:blipFill>
        <p:spPr>
          <a:xfrm>
            <a:off x="-53640" y="1156680"/>
            <a:ext cx="9143280" cy="5700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Node.js without Express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04" name="Google Shape;172;g342d2d22371_0_39"/>
          <p:cNvSpPr/>
          <p:nvPr/>
        </p:nvSpPr>
        <p:spPr>
          <a:xfrm>
            <a:off x="484560" y="1300680"/>
            <a:ext cx="783576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05" name="Google Shape;173;g342d2d22371_0_39"/>
          <p:cNvPicPr/>
          <p:nvPr/>
        </p:nvPicPr>
        <p:blipFill>
          <a:blip r:embed="rId1"/>
          <a:stretch>
            <a:fillRect/>
          </a:stretch>
        </p:blipFill>
        <p:spPr>
          <a:xfrm>
            <a:off x="152280" y="1566360"/>
            <a:ext cx="8838360" cy="458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Node.js with Express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08" name="Google Shape;181;g34d1d08e5b1_0_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767240"/>
            <a:ext cx="9143280" cy="332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What is req and res?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527760" y="1152720"/>
            <a:ext cx="80013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 Express, every route handler gets two key objects: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represents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HTTP request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represents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HTTP response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11" name="Picture 310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2851920"/>
            <a:ext cx="7808040" cy="2495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The req object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Contains information sent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from client to server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Common properties: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req.params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req.query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req.body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req.headers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req.method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req.url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Path Parameters (req.params)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PATCH /items/12345678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Content-Type: application/json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"name": "Updated Item",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"quantity": 20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→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req.params.id === "42"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206280" y="-9396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Query Parameters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317" name="Google Shape;210;g34d1d08e5b1_0_42"/>
          <p:cNvSpPr/>
          <p:nvPr/>
        </p:nvSpPr>
        <p:spPr>
          <a:xfrm>
            <a:off x="206280" y="1253880"/>
            <a:ext cx="8644320" cy="2528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Data sent in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URL after </a:t>
            </a:r>
            <a:r>
              <a:rPr lang="en-US" sz="2200" b="1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?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exports.searchItem = async (req, res) =&gt; {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const searchTerm = req.query.term;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URL: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/search?term=book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 →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req.query.term === "book"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Body Parameter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Used in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POST/PUT/PATCH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 requests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PATCH /items/12345678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Content-Type: application/json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{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"name": "Updated Item",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"quantity": 20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{ name, quantity } = req.body;</a:t>
            </a:r>
            <a:endParaRPr lang="en-US" sz="18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Header, Method, URL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searchItem = async (req, res) =&gt; {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console.log('Method:', req.method);     	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// e.g., "GET"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console.log('URL:', req.url);           	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// e.g., "/search?term=book"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console.log('Headers:', req.headers); 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// logs all incoming headers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Difference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23" name="Google Shape;231;g34b178a6ba3_0_4"/>
          <p:cNvSpPr/>
          <p:nvPr/>
        </p:nvSpPr>
        <p:spPr>
          <a:xfrm>
            <a:off x="484560" y="1300680"/>
            <a:ext cx="783576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24" name="Google Shape;232;g34b178a6ba3_0_4"/>
          <p:cNvPicPr/>
          <p:nvPr/>
        </p:nvPicPr>
        <p:blipFill>
          <a:blip r:embed="rId1"/>
          <a:stretch>
            <a:fillRect/>
          </a:stretch>
        </p:blipFill>
        <p:spPr>
          <a:xfrm>
            <a:off x="152280" y="2005560"/>
            <a:ext cx="8838360" cy="2116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84560" y="44575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The res (Response) Object</a:t>
            </a:r>
            <a:endParaRPr lang="en-US" sz="4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645480" y="1331280"/>
            <a:ext cx="714420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Used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send data back to the client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Common methods: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res.send()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res.json()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res.status()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res.redirect()</a:t>
            </a:r>
            <a:br>
              <a:rPr sz="2200">
                <a:latin typeface="Cascadia Code" panose="020B0609020000020004" charset="0"/>
                <a:cs typeface="Cascadia Code" panose="020B0609020000020004" charset="0"/>
              </a:rPr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res.end()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Response Type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328" name="Google Shape;246;g342d2d22371_0_57"/>
          <p:cNvSpPr/>
          <p:nvPr/>
        </p:nvSpPr>
        <p:spPr>
          <a:xfrm>
            <a:off x="332280" y="1425240"/>
            <a:ext cx="8811360" cy="4204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res.send()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Sends a plain response (string, number, HTML)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res.send("Hello");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res.json()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Sends a JSON response (Content-Type = application/json)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res.json({ message: "Success" });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res.status()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Sets HTTP status code before sending a response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res.status(404).send("Not Found");</a:t>
            </a:r>
            <a:endParaRPr lang="en-US" sz="22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Statuses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30" name="Google Shape;253;g34d1d08e5b1_0_62"/>
          <p:cNvPicPr/>
          <p:nvPr/>
        </p:nvPicPr>
        <p:blipFill>
          <a:blip r:embed="rId1"/>
          <a:stretch>
            <a:fillRect/>
          </a:stretch>
        </p:blipFill>
        <p:spPr>
          <a:xfrm>
            <a:off x="302400" y="1555560"/>
            <a:ext cx="8188920" cy="4699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28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Examples of Status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99000" y="739440"/>
            <a:ext cx="904428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Sending 200 (OK)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res.status(200).json({ message: "Success" });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Sending 201 (Created)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res.status(201).json({ message: "Item Created" });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Sending 404 (Not Found)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res.status(404).send("Item not found");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Sending 500 (Server Error)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res.status(500).json({ error: "Something went wrong" });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09680" y="0"/>
            <a:ext cx="81727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Sending user example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409680" y="720360"/>
            <a:ext cx="87681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res.status(200).json(user);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 send user with 200 OK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res.status(200)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sets the response status code to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200 OK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br>
              <a:rPr sz="2200"/>
            </a:b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.json(user)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sends the user object in JSON format: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{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"id": 1,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"name": "John Doe",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"email": "john@example.com"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2622</Words>
  <Application>WPS Presentation</Application>
  <PresentationFormat/>
  <Paragraphs>150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24</vt:i4>
      </vt:variant>
      <vt:variant>
        <vt:lpstr>幻灯片标题</vt:lpstr>
      </vt:variant>
      <vt:variant>
        <vt:i4>19</vt:i4>
      </vt:variant>
    </vt:vector>
  </HeadingPairs>
  <TitlesOfParts>
    <vt:vector size="56" baseType="lpstr">
      <vt:lpstr>Arial</vt:lpstr>
      <vt:lpstr>SimSun</vt:lpstr>
      <vt:lpstr>Wingdings</vt:lpstr>
      <vt:lpstr>Arial</vt:lpstr>
      <vt:lpstr>Times New Roman</vt:lpstr>
      <vt:lpstr>Symbol</vt:lpstr>
      <vt:lpstr>Calibri</vt:lpstr>
      <vt:lpstr>Roboto Mono</vt:lpstr>
      <vt:lpstr>Segoe Print</vt:lpstr>
      <vt:lpstr>Microsoft YaHei</vt:lpstr>
      <vt:lpstr>Arial Unicode MS</vt:lpstr>
      <vt:lpstr>Cascadia Code</vt:lpstr>
      <vt:lpstr>Times New Roman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Web Programming</vt:lpstr>
      <vt:lpstr>What is Express?</vt:lpstr>
      <vt:lpstr>Why Use Express?</vt:lpstr>
      <vt:lpstr>Core Features</vt:lpstr>
      <vt:lpstr>Common Express Methods</vt:lpstr>
      <vt:lpstr>Node.js without Express</vt:lpstr>
      <vt:lpstr>Node.js with Express</vt:lpstr>
      <vt:lpstr>What is req and res?</vt:lpstr>
      <vt:lpstr>The req object</vt:lpstr>
      <vt:lpstr>Path Parameters (req.params)</vt:lpstr>
      <vt:lpstr>Query Parameters</vt:lpstr>
      <vt:lpstr>Body Parameter</vt:lpstr>
      <vt:lpstr>Header, Method, URL</vt:lpstr>
      <vt:lpstr>Difference</vt:lpstr>
      <vt:lpstr>The res (Response) Object</vt:lpstr>
      <vt:lpstr>Response Type</vt:lpstr>
      <vt:lpstr>Statuses</vt:lpstr>
      <vt:lpstr>Examples of Status</vt:lpstr>
      <vt:lpstr>Sending user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dell</cp:lastModifiedBy>
  <cp:revision>6</cp:revision>
  <dcterms:created xsi:type="dcterms:W3CDTF">2012-07-03T07:32:00Z</dcterms:created>
  <dcterms:modified xsi:type="dcterms:W3CDTF">2025-12-23T09:27:52Z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1624586CEF5446DFA22A22199DBB5D1E_12</vt:lpwstr>
  </property>
  <property fmtid="{D5CDD505-2E9C-101B-9397-08002B2CF9AE}" pid="3" name="KSOProductBuildVer">
    <vt:lpwstr>1033-12.2.0.23155</vt:lpwstr>
  </property>
</Properties>
</file>