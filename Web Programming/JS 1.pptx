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95" r:id="rId22"/>
    <p:sldMasterId id="2147483697" r:id="rId23"/>
    <p:sldMasterId id="2147483699" r:id="rId24"/>
    <p:sldMasterId id="2147483701" r:id="rId25"/>
    <p:sldMasterId id="2147483703" r:id="rId26"/>
    <p:sldMasterId id="2147483705" r:id="rId27"/>
    <p:sldMasterId id="2147483707" r:id="rId28"/>
    <p:sldMasterId id="2147483709" r:id="rId29"/>
    <p:sldMasterId id="2147483711" r:id="rId30"/>
    <p:sldMasterId id="2147483713" r:id="rId31"/>
    <p:sldMasterId id="2147483715" r:id="rId32"/>
    <p:sldMasterId id="2147483717" r:id="rId33"/>
    <p:sldMasterId id="2147483719" r:id="rId34"/>
    <p:sldMasterId id="2147483721" r:id="rId35"/>
    <p:sldMasterId id="2147483723" r:id="rId36"/>
    <p:sldMasterId id="2147483725" r:id="rId37"/>
    <p:sldMasterId id="2147483727" r:id="rId38"/>
    <p:sldMasterId id="2147483729" r:id="rId39"/>
  </p:sldMasterIdLst>
  <p:notesMasterIdLst>
    <p:notesMasterId r:id="rId41"/>
  </p:notesMasterIdLst>
  <p:sldIdLst>
    <p:sldId id="256" r:id="rId40"/>
    <p:sldId id="257" r:id="rId42"/>
    <p:sldId id="258" r:id="rId43"/>
    <p:sldId id="259" r:id="rId44"/>
    <p:sldId id="260" r:id="rId45"/>
    <p:sldId id="261" r:id="rId46"/>
    <p:sldId id="262" r:id="rId47"/>
    <p:sldId id="263" r:id="rId48"/>
    <p:sldId id="264" r:id="rId49"/>
    <p:sldId id="265" r:id="rId50"/>
    <p:sldId id="266" r:id="rId51"/>
    <p:sldId id="267" r:id="rId52"/>
    <p:sldId id="268" r:id="rId53"/>
    <p:sldId id="269" r:id="rId54"/>
    <p:sldId id="270" r:id="rId55"/>
    <p:sldId id="271" r:id="rId56"/>
    <p:sldId id="272" r:id="rId57"/>
    <p:sldId id="273" r:id="rId58"/>
    <p:sldId id="274" r:id="rId59"/>
    <p:sldId id="275" r:id="rId60"/>
    <p:sldId id="276" r:id="rId61"/>
    <p:sldId id="277" r:id="rId62"/>
    <p:sldId id="278" r:id="rId63"/>
    <p:sldId id="279" r:id="rId64"/>
    <p:sldId id="280" r:id="rId65"/>
    <p:sldId id="281" r:id="rId66"/>
    <p:sldId id="282" r:id="rId67"/>
    <p:sldId id="283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10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Master" Target="slideMasters/slideMaster6.xml"/><Relationship Id="rId69" Type="http://schemas.openxmlformats.org/officeDocument/2006/relationships/presProps" Target="presProps.xml"/><Relationship Id="rId68" Type="http://schemas.openxmlformats.org/officeDocument/2006/relationships/slide" Target="slides/slide28.xml"/><Relationship Id="rId67" Type="http://schemas.openxmlformats.org/officeDocument/2006/relationships/slide" Target="slides/slide27.xml"/><Relationship Id="rId66" Type="http://schemas.openxmlformats.org/officeDocument/2006/relationships/slide" Target="slides/slide26.xml"/><Relationship Id="rId65" Type="http://schemas.openxmlformats.org/officeDocument/2006/relationships/slide" Target="slides/slide25.xml"/><Relationship Id="rId64" Type="http://schemas.openxmlformats.org/officeDocument/2006/relationships/slide" Target="slides/slide24.xml"/><Relationship Id="rId63" Type="http://schemas.openxmlformats.org/officeDocument/2006/relationships/slide" Target="slides/slide23.xml"/><Relationship Id="rId62" Type="http://schemas.openxmlformats.org/officeDocument/2006/relationships/slide" Target="slides/slide22.xml"/><Relationship Id="rId61" Type="http://schemas.openxmlformats.org/officeDocument/2006/relationships/slide" Target="slides/slide21.xml"/><Relationship Id="rId60" Type="http://schemas.openxmlformats.org/officeDocument/2006/relationships/slide" Target="slides/slide20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9.xml"/><Relationship Id="rId58" Type="http://schemas.openxmlformats.org/officeDocument/2006/relationships/slide" Target="slides/slide18.xml"/><Relationship Id="rId57" Type="http://schemas.openxmlformats.org/officeDocument/2006/relationships/slide" Target="slides/slide17.xml"/><Relationship Id="rId56" Type="http://schemas.openxmlformats.org/officeDocument/2006/relationships/slide" Target="slides/slide16.xml"/><Relationship Id="rId55" Type="http://schemas.openxmlformats.org/officeDocument/2006/relationships/slide" Target="slides/slide15.xml"/><Relationship Id="rId54" Type="http://schemas.openxmlformats.org/officeDocument/2006/relationships/slide" Target="slides/slide14.xml"/><Relationship Id="rId53" Type="http://schemas.openxmlformats.org/officeDocument/2006/relationships/slide" Target="slides/slide13.xml"/><Relationship Id="rId52" Type="http://schemas.openxmlformats.org/officeDocument/2006/relationships/slide" Target="slides/slide12.xml"/><Relationship Id="rId51" Type="http://schemas.openxmlformats.org/officeDocument/2006/relationships/slide" Target="slides/slide11.xml"/><Relationship Id="rId50" Type="http://schemas.openxmlformats.org/officeDocument/2006/relationships/slide" Target="slides/slide1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9.xml"/><Relationship Id="rId48" Type="http://schemas.openxmlformats.org/officeDocument/2006/relationships/slide" Target="slides/slide8.xml"/><Relationship Id="rId47" Type="http://schemas.openxmlformats.org/officeDocument/2006/relationships/slide" Target="slides/slide7.xml"/><Relationship Id="rId46" Type="http://schemas.openxmlformats.org/officeDocument/2006/relationships/slide" Target="slides/slide6.xml"/><Relationship Id="rId45" Type="http://schemas.openxmlformats.org/officeDocument/2006/relationships/slide" Target="slides/slide5.xml"/><Relationship Id="rId44" Type="http://schemas.openxmlformats.org/officeDocument/2006/relationships/slide" Target="slides/slide4.xml"/><Relationship Id="rId43" Type="http://schemas.openxmlformats.org/officeDocument/2006/relationships/slide" Target="slides/slide3.xml"/><Relationship Id="rId42" Type="http://schemas.openxmlformats.org/officeDocument/2006/relationships/slide" Target="slides/slide2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-2159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 type="dt" idx="7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 type="ftr" idx="7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460" name="PlaceHolder 6"/>
          <p:cNvSpPr>
            <a:spLocks noGrp="1"/>
          </p:cNvSpPr>
          <p:nvPr>
            <p:ph type="sldNum" idx="7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34699F10-7226-460A-93DF-B8BC0E43CA0E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.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49CFBE-FD3B-4342-83A3-A892DD036D8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DD8533-997D-4243-958F-B64B87FEAB7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603005C-5C50-4916-A68F-9EDEAA3BACA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20C7A34-3FF0-451D-A351-17314A012AF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4297D9-9E98-4C1E-859F-37B492C2CDA6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E26F55-25A9-4B86-8DD0-1C682BF5EE7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047ACE3-4260-4A87-B439-F2790D78AF16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C51964-37EF-4ED4-874D-53DA03BF012E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24F18D-4860-4CD3-AEBD-9B2BA4D8BA5B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56FF18-47E0-445A-B334-53CCD0F0BC0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74D157-886E-487F-8772-084503DBD6B0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739EA5D-469C-470E-BF1D-CA23FDBBA10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0687CED-E3E2-40F0-BF49-0CADC0CAC764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93B64F-7171-40B1-AD60-C64D7662E8D0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8CABF2-3D1A-42A9-87FC-66E9D1E974E0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916152-D09D-4E28-B18B-8DD757512E3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D862D7-CD31-4D45-9A96-8E5385FA1E98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79589BB-E970-44DC-B486-6CF62379015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93DF57-A97A-4767-966D-822602F67BF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16C9D48-D33C-468B-9479-5585D9AE7D10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E01B0E-8A54-4092-95FB-B6FBCBF36BD0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CD92254-6109-4D99-AE11-02A5CF8247F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D73ACAF-614E-48D6-821E-F61965E026B3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D6693D-F6D2-4B7C-A588-081B313B28E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270150-01B2-4960-84BA-020C4EC3A30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8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26600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26600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3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3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426600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38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426600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4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48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5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8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6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6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6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6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/>
          </p:nvPr>
        </p:nvSpPr>
        <p:spPr>
          <a:xfrm>
            <a:off x="426600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68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7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7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7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0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theme" Target="../theme/them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0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theme" Target="../theme/them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1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theme" Target="../theme/theme2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theme" Target="../theme/theme2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3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theme" Target="../theme/theme2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4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theme" Target="../theme/theme2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theme" Target="../theme/theme2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6.xml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theme" Target="../theme/theme3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theme" Target="../theme/theme3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8.xml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theme" Target="../theme/theme3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9.xml"/></Relationships>
</file>

<file path=ppt/slideMasters/_rels/slideMaster3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theme" Target="../theme/theme3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1.xml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theme" Target="../theme/theme3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2.xml"/></Relationships>
</file>

<file path=ppt/slideMasters/_rels/slideMaster36.xml.rels><?xml version="1.0" encoding="UTF-8" standalone="yes"?>
<Relationships xmlns="http://schemas.openxmlformats.org/package/2006/relationships"><Relationship Id="rId3" Type="http://schemas.openxmlformats.org/officeDocument/2006/relationships/theme" Target="../theme/theme3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3.xml"/></Relationships>
</file>

<file path=ppt/slideMasters/_rels/slideMaster37.xml.rels><?xml version="1.0" encoding="UTF-8" standalone="yes"?>
<Relationships xmlns="http://schemas.openxmlformats.org/package/2006/relationships"><Relationship Id="rId3" Type="http://schemas.openxmlformats.org/officeDocument/2006/relationships/theme" Target="../theme/theme3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4.xml"/></Relationships>
</file>

<file path=ppt/slideMasters/_rels/slideMaster38.xml.rels><?xml version="1.0" encoding="UTF-8" standalone="yes"?>
<Relationships xmlns="http://schemas.openxmlformats.org/package/2006/relationships"><Relationship Id="rId3" Type="http://schemas.openxmlformats.org/officeDocument/2006/relationships/theme" Target="../theme/theme3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6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7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ftr" idx="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2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6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7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ftr" idx="3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dt" idx="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6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7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ftr" idx="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dt" idx="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2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3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6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7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8" name="Google Shape;85;p13"/>
          <p:cNvSpPr/>
          <p:nvPr/>
        </p:nvSpPr>
        <p:spPr>
          <a:xfrm>
            <a:off x="673920" y="971280"/>
            <a:ext cx="60012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“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9" name="Google Shape;86;p13"/>
          <p:cNvSpPr/>
          <p:nvPr/>
        </p:nvSpPr>
        <p:spPr>
          <a:xfrm>
            <a:off x="6999840" y="2613960"/>
            <a:ext cx="60012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”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ftr" idx="7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8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4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5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6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7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8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49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ftr" idx="9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10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3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58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59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cxnSp>
        <p:nvCxnSpPr>
          <p:cNvPr id="60" name="Google Shape;100;p15"/>
          <p:cNvCxnSpPr/>
          <p:nvPr/>
        </p:nvCxnSpPr>
        <p:spPr>
          <a:xfrm>
            <a:off x="2795040" y="2133360"/>
            <a:ext cx="1440" cy="396396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61" name="Google Shape;101;p15"/>
          <p:cNvCxnSpPr/>
          <p:nvPr/>
        </p:nvCxnSpPr>
        <p:spPr>
          <a:xfrm>
            <a:off x="5222880" y="2133360"/>
            <a:ext cx="1440" cy="39682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62" name="PlaceHolder 1"/>
          <p:cNvSpPr>
            <a:spLocks noGrp="1"/>
          </p:cNvSpPr>
          <p:nvPr>
            <p:ph type="ftr" idx="1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12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5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6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7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8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9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70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71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cxnSp>
        <p:nvCxnSpPr>
          <p:cNvPr id="72" name="Google Shape;115;p16"/>
          <p:cNvCxnSpPr/>
          <p:nvPr/>
        </p:nvCxnSpPr>
        <p:spPr>
          <a:xfrm>
            <a:off x="2795040" y="2133360"/>
            <a:ext cx="1440" cy="396396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73" name="Google Shape;116;p16"/>
          <p:cNvCxnSpPr/>
          <p:nvPr/>
        </p:nvCxnSpPr>
        <p:spPr>
          <a:xfrm>
            <a:off x="5222880" y="2133360"/>
            <a:ext cx="1440" cy="39682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74" name="PlaceHolder 1"/>
          <p:cNvSpPr>
            <a:spLocks noGrp="1"/>
          </p:cNvSpPr>
          <p:nvPr>
            <p:ph type="ftr" idx="13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dt" idx="1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7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8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9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0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1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82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83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ftr" idx="1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dt" idx="1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7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8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9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0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1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92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93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ftr" idx="17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dt" idx="18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7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8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9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0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1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02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03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19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20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1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2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3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4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5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16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17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ftr" idx="2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dt" idx="22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1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2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3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4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5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26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27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26636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ftr" idx="23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dt" idx="2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7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8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9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0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1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42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43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ftr" idx="2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2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9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0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1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2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3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54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55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ftr" idx="27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dt" idx="28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3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4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5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6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7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68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69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ftr" idx="29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dt" idx="30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5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6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7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8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9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80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81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426636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ftr" idx="3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dt" idx="32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1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2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3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4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5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96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97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ftr" idx="33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dt" idx="3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5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6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7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8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9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10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11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ftr" idx="3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3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7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8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9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0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1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22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23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426636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ftr" idx="37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 type="dt" idx="38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3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4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5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6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7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38" name="Google Shape;18;p1"/>
          <p:cNvPicPr/>
          <p:nvPr/>
        </p:nvPicPr>
        <p:blipFill>
          <a:blip r:embed="rId9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39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ftr" idx="39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 type="dt" idx="40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5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6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7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8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9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60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61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ftr" idx="4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dt" idx="42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5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6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7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8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9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70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71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ftr" idx="43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dt" idx="4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5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6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7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8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9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80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81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ftr" idx="4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dt" idx="4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5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6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7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8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9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90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91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ftr" idx="47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dt" idx="48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8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9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00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01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02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03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04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ftr" idx="49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dt" idx="50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08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09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0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1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2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13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14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ftr" idx="5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dt" idx="52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8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9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20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21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22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23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24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ftr" idx="53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dt" idx="5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28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29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30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31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32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33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34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ftr" idx="5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dt" idx="5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1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2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3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4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5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46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47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48" name="PlaceHolder 1"/>
          <p:cNvSpPr>
            <a:spLocks noGrp="1"/>
          </p:cNvSpPr>
          <p:nvPr>
            <p:ph type="ftr" idx="57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dt" idx="58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1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2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3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4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5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56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57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ftr" idx="59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dt" idx="60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4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5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6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7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8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69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70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ftr" idx="6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dt" idx="62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78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79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80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81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82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83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84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ftr" idx="63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dt" idx="6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88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89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0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1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2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93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94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ftr" idx="6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dt" idx="6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8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9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00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01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02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03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404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body"/>
          </p:nvPr>
        </p:nvSpPr>
        <p:spPr>
          <a:xfrm>
            <a:off x="4266360" y="2053080"/>
            <a:ext cx="3274200" cy="41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08" name="PlaceHolder 4"/>
          <p:cNvSpPr>
            <a:spLocks noGrp="1"/>
          </p:cNvSpPr>
          <p:nvPr>
            <p:ph type="ftr" idx="67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409" name="PlaceHolder 5"/>
          <p:cNvSpPr>
            <a:spLocks noGrp="1"/>
          </p:cNvSpPr>
          <p:nvPr>
            <p:ph type="dt" idx="68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4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5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6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7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8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19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420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ftr" idx="69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dt" idx="70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4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5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6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7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8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29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430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ftr" idx="71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dt" idx="72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36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37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38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39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40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41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442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43" name="PlaceHolder 1"/>
          <p:cNvSpPr>
            <a:spLocks noGrp="1"/>
          </p:cNvSpPr>
          <p:nvPr>
            <p:ph type="ftr" idx="73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dt" idx="74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10;p1"/>
          <p:cNvSpPr/>
          <p:nvPr/>
        </p:nvSpPr>
        <p:spPr>
          <a:xfrm>
            <a:off x="6299280" y="1676520"/>
            <a:ext cx="2818080" cy="281808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46" name="Google Shape;11;p1"/>
          <p:cNvSpPr/>
          <p:nvPr/>
        </p:nvSpPr>
        <p:spPr>
          <a:xfrm>
            <a:off x="5689800" y="-457200"/>
            <a:ext cx="1598760" cy="159876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47" name="Google Shape;12;p1"/>
          <p:cNvSpPr/>
          <p:nvPr/>
        </p:nvSpPr>
        <p:spPr>
          <a:xfrm>
            <a:off x="6299280" y="6095880"/>
            <a:ext cx="989280" cy="98928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48" name="Google Shape;13;p1"/>
          <p:cNvSpPr/>
          <p:nvPr/>
        </p:nvSpPr>
        <p:spPr>
          <a:xfrm>
            <a:off x="-154080" y="2666880"/>
            <a:ext cx="4189680" cy="418968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49" name="Google Shape;14;p1"/>
          <p:cNvSpPr/>
          <p:nvPr/>
        </p:nvSpPr>
        <p:spPr>
          <a:xfrm>
            <a:off x="-839880" y="2895480"/>
            <a:ext cx="2360880" cy="236088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50" name="Google Shape;15;p1"/>
          <p:cNvSpPr/>
          <p:nvPr/>
        </p:nvSpPr>
        <p:spPr>
          <a:xfrm>
            <a:off x="7745760" y="0"/>
            <a:ext cx="684360" cy="109800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51" name="Google Shape;18;p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0880" cy="92088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452" name="Google Shape;19;p1"/>
          <p:cNvSpPr/>
          <p:nvPr/>
        </p:nvSpPr>
        <p:spPr>
          <a:xfrm>
            <a:off x="12600" y="6248520"/>
            <a:ext cx="9117360" cy="60804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53" name="PlaceHolder 1"/>
          <p:cNvSpPr>
            <a:spLocks noGrp="1"/>
          </p:cNvSpPr>
          <p:nvPr>
            <p:ph type="ftr" idx="75"/>
          </p:nvPr>
        </p:nvSpPr>
        <p:spPr>
          <a:xfrm rot="5400000">
            <a:off x="6234480" y="3263400"/>
            <a:ext cx="38584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dt" idx="76"/>
          </p:nvPr>
        </p:nvSpPr>
        <p:spPr>
          <a:xfrm rot="5400000">
            <a:off x="7496280" y="1828800"/>
            <a:ext cx="989280" cy="2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w3schools.com/js/js_string_methods.asp#mark_substr" TargetMode="External"/><Relationship Id="rId8" Type="http://schemas.openxmlformats.org/officeDocument/2006/relationships/hyperlink" Target="https://www.w3schools.com/js/js_string_methods.asp#mark_substring" TargetMode="External"/><Relationship Id="rId7" Type="http://schemas.openxmlformats.org/officeDocument/2006/relationships/hyperlink" Target="https://www.w3schools.com/js/js_string_methods.asp#mark_slice" TargetMode="External"/><Relationship Id="rId6" Type="http://schemas.openxmlformats.org/officeDocument/2006/relationships/hyperlink" Target="https://www.w3schools.com/js/js_string_methods.asp#mark_propertyaccess" TargetMode="External"/><Relationship Id="rId5" Type="http://schemas.openxmlformats.org/officeDocument/2006/relationships/hyperlink" Target="https://www.w3schools.com/js/js_string_methods.asp#mark_at" TargetMode="External"/><Relationship Id="rId4" Type="http://schemas.openxmlformats.org/officeDocument/2006/relationships/hyperlink" Target="https://www.w3schools.com/js/js_string_methods.asp#mark_tolowercase" TargetMode="External"/><Relationship Id="rId3" Type="http://schemas.openxmlformats.org/officeDocument/2006/relationships/hyperlink" Target="https://www.w3schools.com/js/js_string_methods.asp#mark_touppercase" TargetMode="External"/><Relationship Id="rId21" Type="http://schemas.openxmlformats.org/officeDocument/2006/relationships/notesSlide" Target="../notesSlides/notesSlide17.xml"/><Relationship Id="rId20" Type="http://schemas.openxmlformats.org/officeDocument/2006/relationships/slideLayout" Target="../slideLayouts/slideLayout22.xml"/><Relationship Id="rId2" Type="http://schemas.openxmlformats.org/officeDocument/2006/relationships/hyperlink" Target="https://www.w3schools.com/js/js_string_methods.asp#mark_charat" TargetMode="External"/><Relationship Id="rId19" Type="http://schemas.openxmlformats.org/officeDocument/2006/relationships/hyperlink" Target="https://www.w3schools.com/js/js_string_methods.asp#mark_split" TargetMode="External"/><Relationship Id="rId18" Type="http://schemas.openxmlformats.org/officeDocument/2006/relationships/hyperlink" Target="https://www.w3schools.com/js/js_string_methods.asp#mark_replaceall" TargetMode="External"/><Relationship Id="rId17" Type="http://schemas.openxmlformats.org/officeDocument/2006/relationships/hyperlink" Target="https://www.w3schools.com/js/js_string_methods.asp#mark_replace" TargetMode="External"/><Relationship Id="rId16" Type="http://schemas.openxmlformats.org/officeDocument/2006/relationships/hyperlink" Target="https://www.w3schools.com/js/js_string_methods.asp#mark_repeat" TargetMode="External"/><Relationship Id="rId15" Type="http://schemas.openxmlformats.org/officeDocument/2006/relationships/hyperlink" Target="https://www.w3schools.com/js/js_string_methods.asp#mark_padend" TargetMode="External"/><Relationship Id="rId14" Type="http://schemas.openxmlformats.org/officeDocument/2006/relationships/hyperlink" Target="https://www.w3schools.com/js/js_string_methods.asp#mark_padstart" TargetMode="External"/><Relationship Id="rId13" Type="http://schemas.openxmlformats.org/officeDocument/2006/relationships/hyperlink" Target="https://www.w3schools.com/js/js_string_methods.asp#mark_trimend" TargetMode="External"/><Relationship Id="rId12" Type="http://schemas.openxmlformats.org/officeDocument/2006/relationships/hyperlink" Target="https://www.w3schools.com/js/js_string_methods.asp#mark_trimstart" TargetMode="External"/><Relationship Id="rId11" Type="http://schemas.openxmlformats.org/officeDocument/2006/relationships/hyperlink" Target="https://www.w3schools.com/js/js_string_methods.asp#mark_trim" TargetMode="External"/><Relationship Id="rId10" Type="http://schemas.openxmlformats.org/officeDocument/2006/relationships/hyperlink" Target="https://www.w3schools.com/js/js_string_methods.asp#mark_concat" TargetMode="External"/><Relationship Id="rId1" Type="http://schemas.openxmlformats.org/officeDocument/2006/relationships/hyperlink" Target="https://www.w3schools.com/js/js_string_methods.asp#mark_length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w3schools.com/js/js_array_methods.asp#mark_delete" TargetMode="External"/><Relationship Id="rId8" Type="http://schemas.openxmlformats.org/officeDocument/2006/relationships/hyperlink" Target="https://www.w3schools.com/js/js_array_methods.asp#mark_unshift" TargetMode="External"/><Relationship Id="rId7" Type="http://schemas.openxmlformats.org/officeDocument/2006/relationships/hyperlink" Target="https://www.w3schools.com/js/js_array_methods.asp#mark_shift" TargetMode="External"/><Relationship Id="rId6" Type="http://schemas.openxmlformats.org/officeDocument/2006/relationships/hyperlink" Target="https://www.w3schools.com/js/js_array_methods.asp#mark_push" TargetMode="External"/><Relationship Id="rId5" Type="http://schemas.openxmlformats.org/officeDocument/2006/relationships/hyperlink" Target="https://www.w3schools.com/js/js_array_methods.asp#mark_pop" TargetMode="External"/><Relationship Id="rId4" Type="http://schemas.openxmlformats.org/officeDocument/2006/relationships/hyperlink" Target="https://www.w3schools.com/js/js_array_methods.asp#mark_join" TargetMode="External"/><Relationship Id="rId3" Type="http://schemas.openxmlformats.org/officeDocument/2006/relationships/hyperlink" Target="https://www.w3schools.com/js/js_array_methods.asp#mark_at" TargetMode="External"/><Relationship Id="rId2" Type="http://schemas.openxmlformats.org/officeDocument/2006/relationships/hyperlink" Target="https://www.w3schools.com/js/js_array_methods.asp#mark_tostring" TargetMode="External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22.xml"/><Relationship Id="rId14" Type="http://schemas.openxmlformats.org/officeDocument/2006/relationships/hyperlink" Target="http://www.w3schools.com/jsref/jsref_forEach.asp" TargetMode="External"/><Relationship Id="rId13" Type="http://schemas.openxmlformats.org/officeDocument/2006/relationships/hyperlink" Target="https://www.w3schools.com/jsref/jsref_filter.asp" TargetMode="External"/><Relationship Id="rId12" Type="http://schemas.openxmlformats.org/officeDocument/2006/relationships/hyperlink" Target="https://www.w3schools.com/js/js_array_iteration.asp#mark_map" TargetMode="External"/><Relationship Id="rId11" Type="http://schemas.openxmlformats.org/officeDocument/2006/relationships/hyperlink" Target="https://www.w3schools.com/js/js_array_sort.asp#mark_sort" TargetMode="External"/><Relationship Id="rId10" Type="http://schemas.openxmlformats.org/officeDocument/2006/relationships/hyperlink" Target="https://www.w3schools.com/js/js_array_methods.asp#mark_concat" TargetMode="External"/><Relationship Id="rId1" Type="http://schemas.openxmlformats.org/officeDocument/2006/relationships/hyperlink" Target="https://www.w3schools.com/js/js_array_methods.asp#mark_length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hyperlink" Target="https://javascript.info" TargetMode="External"/><Relationship Id="rId1" Type="http://schemas.openxmlformats.org/officeDocument/2006/relationships/hyperlink" Target="https://developer.mozilla.org/en-US/docs/Web/JavaScri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800280" y="1276200"/>
            <a:ext cx="7770960" cy="182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4400" b="0" u="none" strike="noStrike" dirty="0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JavaScript</a:t>
            </a:r>
            <a:endParaRPr lang="en-US" sz="4400" b="0" u="none" strike="noStrike" dirty="0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62" name="Google Shape;135;p19"/>
          <p:cNvPicPr/>
          <p:nvPr/>
        </p:nvPicPr>
        <p:blipFill>
          <a:blip r:embed="rId1"/>
          <a:srcRect t="50052"/>
          <a:stretch>
            <a:fillRect/>
          </a:stretch>
        </p:blipFill>
        <p:spPr>
          <a:xfrm>
            <a:off x="1066680" y="3362400"/>
            <a:ext cx="7621560" cy="13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Google Shape;136;p19"/>
          <p:cNvSpPr/>
          <p:nvPr/>
        </p:nvSpPr>
        <p:spPr>
          <a:xfrm>
            <a:off x="2819520" y="5334120"/>
            <a:ext cx="7053840" cy="91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64" name="Google Shape;137;p19"/>
          <p:cNvSpPr/>
          <p:nvPr/>
        </p:nvSpPr>
        <p:spPr>
          <a:xfrm>
            <a:off x="3186360" y="3753000"/>
            <a:ext cx="299844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0" y="14184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What is javascript?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/>
          </p:nvPr>
        </p:nvSpPr>
        <p:spPr>
          <a:xfrm>
            <a:off x="380880" y="1542240"/>
            <a:ext cx="8228160" cy="462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000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 lightweight, interpreted programming language.</a:t>
            </a:r>
            <a:endParaRPr lang="en-US" sz="2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4000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Used for creating dynamic and interactive web content.</a:t>
            </a:r>
            <a:endParaRPr lang="en-US" sz="2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4000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Runs in the browser (client-side) and on servers (Node.js).</a:t>
            </a:r>
            <a:endParaRPr lang="en-US" sz="2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4000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7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Example Uses</a:t>
            </a:r>
            <a:r>
              <a:rPr lang="en-US" sz="2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</a:t>
            </a:r>
            <a:endParaRPr lang="en-US" sz="2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914400" lvl="1" indent="-4000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○"/>
            </a:pPr>
            <a:r>
              <a:rPr lang="en-US" sz="2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Form validations.</a:t>
            </a:r>
            <a:endParaRPr lang="en-US" sz="2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914400" lvl="1" indent="-4000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○"/>
            </a:pPr>
            <a:r>
              <a:rPr lang="en-US" sz="2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Animations.</a:t>
            </a:r>
            <a:endParaRPr lang="en-US" sz="2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914400" lvl="1" indent="-4000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○"/>
            </a:pPr>
            <a:r>
              <a:rPr lang="en-US" sz="2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Updating DOM dynamically.</a:t>
            </a:r>
            <a:endParaRPr lang="en-US" sz="2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-24130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0" y="14184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Why javascript?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/>
          </p:nvPr>
        </p:nvSpPr>
        <p:spPr>
          <a:xfrm>
            <a:off x="380880" y="1542240"/>
            <a:ext cx="8228160" cy="462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4191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3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One of the most popular languages in the world.</a:t>
            </a:r>
            <a:endParaRPr lang="en-US" sz="3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4191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3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Essential for web development (HTML + CSS + JS).</a:t>
            </a:r>
            <a:endParaRPr lang="en-US" sz="3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4191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3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Versatile: Can be used for frontend, backend, game development, and more.</a:t>
            </a:r>
            <a:endParaRPr lang="en-US" sz="3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4191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3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Tons of libraries and frameworks (React, Angular, etc.).</a:t>
            </a:r>
            <a:endParaRPr lang="en-US" sz="3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Inline JavaScript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/>
          </p:nvPr>
        </p:nvSpPr>
        <p:spPr>
          <a:xfrm>
            <a:off x="484560" y="1371600"/>
            <a:ext cx="8276760" cy="487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&lt;a href="#" onClick="alert('Hey I am Inline JavaScript');"&gt;click here&lt;/a&gt;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0" y="14184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Embedded JavaScript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368640" y="675720"/>
            <a:ext cx="8228160" cy="462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2413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&lt;html&gt;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&lt;head&gt;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&lt;script&gt;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		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alert(“Embedded JavaScript");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&lt;/sc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ript&gt;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&lt;/head&gt;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-307340">
              <a:lnSpc>
                <a:spcPct val="100000"/>
              </a:lnSpc>
              <a:spcBef>
                <a:spcPts val="1000"/>
              </a:spcBef>
              <a:buClr>
                <a:srgbClr val="EFF8FC"/>
              </a:buClr>
              <a:buFont typeface="Noto Sans Symbols"/>
              <a:buChar char="►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The simple HTML puts a reference to external JavaScript file inside the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script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tag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-307340">
              <a:lnSpc>
                <a:spcPct val="100000"/>
              </a:lnSpc>
              <a:spcBef>
                <a:spcPts val="1000"/>
              </a:spcBef>
              <a:buClr>
                <a:srgbClr val="EFF8FC"/>
              </a:buClr>
              <a:buFont typeface="Noto Sans Symbols"/>
              <a:buChar char="►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Adding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src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attribute to the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script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tag causes browsers to look for that file. 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-2413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0" y="14184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Using External Scripts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380880" y="1542240"/>
            <a:ext cx="8228160" cy="462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marL="342900" indent="-2413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&lt;html&gt;</a:t>
            </a:r>
            <a:endParaRPr lang="en-US" sz="2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&lt;head&gt;</a:t>
            </a:r>
            <a:endParaRPr lang="en-US" sz="2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&lt;script src=“script.js”&gt;&lt;/script&gt;</a:t>
            </a:r>
            <a:endParaRPr lang="en-US" sz="2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&lt;/head&gt;</a:t>
            </a:r>
            <a:endParaRPr lang="en-US" sz="2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-306070">
              <a:lnSpc>
                <a:spcPct val="100000"/>
              </a:lnSpc>
              <a:spcBef>
                <a:spcPts val="1000"/>
              </a:spcBef>
              <a:buClr>
                <a:srgbClr val="EFF8FC"/>
              </a:buClr>
              <a:buSzPct val="80000"/>
              <a:buFont typeface="Noto Sans Symbols"/>
              <a:buChar char="►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The simple HTML puts a reference to external JavaScript file inside the </a:t>
            </a:r>
            <a:r>
              <a:rPr lang="en-US" sz="3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script</a:t>
            </a:r>
            <a:r>
              <a:rPr lang="en-US" sz="3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tag</a:t>
            </a: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-306070">
              <a:lnSpc>
                <a:spcPct val="100000"/>
              </a:lnSpc>
              <a:spcBef>
                <a:spcPts val="1000"/>
              </a:spcBef>
              <a:buClr>
                <a:srgbClr val="EFF8FC"/>
              </a:buClr>
              <a:buSzPct val="80000"/>
              <a:buFont typeface="Noto Sans Symbols"/>
              <a:buChar char="►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Adding </a:t>
            </a:r>
            <a:r>
              <a:rPr lang="en-US" sz="3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src </a:t>
            </a:r>
            <a:r>
              <a:rPr lang="en-US" sz="3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attribute to the </a:t>
            </a:r>
            <a:r>
              <a:rPr lang="en-US" sz="3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script </a:t>
            </a:r>
            <a:r>
              <a:rPr lang="en-US" sz="3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tag causes browsers to look for that file. </a:t>
            </a: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342900" indent="-24130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33480" y="0"/>
            <a:ext cx="6137280" cy="60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JavaScript’s Reputation</a:t>
            </a:r>
            <a:br>
              <a:rPr sz="4200"/>
            </a:b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114480" y="952560"/>
            <a:ext cx="8913960" cy="49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• Everything is case sensitive, including function, class, and variable.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• When using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var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for variable declaration,The scope of variables in blocks is not supported. This means variables declared inside a loop may be accessible outside of the loop, counter to what one would expect.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• JavaScript is dynamically typed, meaning a variable can hold values of different data types at different times without explicit type declaration.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• There is a === operator, which tests not only for equality but type equivalence.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•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Null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and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undefined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are two distinctly different states for a variable.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33480" y="0"/>
            <a:ext cx="6137280" cy="60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JavaScript’s Reputation</a:t>
            </a:r>
            <a:br>
              <a:rPr sz="4200"/>
            </a:b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114480" y="952560"/>
            <a:ext cx="8913960" cy="49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• Semicolons are not required, but are permitted (and encouraged).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• There is no integer type or float type, only number type.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435960" y="9864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Javascript Basic Syntax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/>
          </p:nvPr>
        </p:nvSpPr>
        <p:spPr>
          <a:xfrm>
            <a:off x="668880" y="965160"/>
            <a:ext cx="847368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3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Variables</a:t>
            </a:r>
            <a:r>
              <a:rPr lang="en-US" sz="23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</a:t>
            </a:r>
            <a:br>
              <a:rPr sz="2300"/>
            </a:b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name = "John";</a:t>
            </a:r>
            <a:endParaRPr lang="en-US" sz="23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let name = "John";</a:t>
            </a:r>
            <a:endParaRPr lang="en-US" sz="23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pi = 3.14;</a:t>
            </a:r>
            <a:endParaRPr lang="en-US" sz="23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var age = 25;</a:t>
            </a:r>
            <a:endParaRPr lang="en-US" sz="23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3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Data Types</a:t>
            </a:r>
            <a:r>
              <a:rPr lang="en-US" sz="23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String, Number, Boolean, Object, Array, Undefined, null</a:t>
            </a:r>
            <a:endParaRPr lang="en-US" sz="23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3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Operators</a:t>
            </a:r>
            <a:r>
              <a:rPr lang="en-US" sz="23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</a:t>
            </a: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+</a:t>
            </a:r>
            <a:r>
              <a:rPr lang="en-US" sz="23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</a:t>
            </a: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-</a:t>
            </a:r>
            <a:r>
              <a:rPr lang="en-US" sz="23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</a:t>
            </a: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*</a:t>
            </a:r>
            <a:r>
              <a:rPr lang="en-US" sz="23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</a:t>
            </a: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</a:t>
            </a:r>
            <a:r>
              <a:rPr lang="en-US" sz="23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%, ++, - - ,  </a:t>
            </a: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==</a:t>
            </a:r>
            <a:r>
              <a:rPr lang="en-US" sz="23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===, !=, !==, &gt;, &lt;, &gt;=, &lt;=, &amp;&amp;, ||.</a:t>
            </a:r>
            <a:endParaRPr lang="en-US" sz="23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3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Example Code</a:t>
            </a:r>
            <a:r>
              <a:rPr lang="en-US" sz="23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</a:t>
            </a:r>
            <a:br>
              <a:rPr sz="2300"/>
            </a:b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let sum = 5 + 3;</a:t>
            </a:r>
            <a:endParaRPr lang="en-US" sz="23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3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console.log("Sum is", sum); // Output: Sum is 8</a:t>
            </a:r>
            <a:endParaRPr lang="en-US" sz="23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3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191880" y="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Data Types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535680" y="60084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// Numbers: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let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length = </a:t>
            </a:r>
            <a:r>
              <a:rPr lang="en-US" sz="17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16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;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let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weight = </a:t>
            </a:r>
            <a:r>
              <a:rPr lang="en-US" sz="17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7.5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;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// Strings: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let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color = </a:t>
            </a:r>
            <a:r>
              <a:rPr lang="en-US" sz="17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"Yellow"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;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let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lastName = </a:t>
            </a:r>
            <a:r>
              <a:rPr lang="en-US" sz="17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"Johnson"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;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// Booleans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let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x = </a:t>
            </a: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true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;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let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y = </a:t>
            </a: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false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;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// Object: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const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person = {firstName:</a:t>
            </a:r>
            <a:r>
              <a:rPr lang="en-US" sz="17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"John"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, lastName:</a:t>
            </a:r>
            <a:r>
              <a:rPr lang="en-US" sz="17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"Doe"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};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// Array object: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const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cars = [</a:t>
            </a:r>
            <a:r>
              <a:rPr lang="en-US" sz="17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"Saab"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, </a:t>
            </a:r>
            <a:r>
              <a:rPr lang="en-US" sz="17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"Volvo"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, </a:t>
            </a:r>
            <a:r>
              <a:rPr lang="en-US" sz="17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"BMW"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];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// Date object: </a:t>
            </a: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const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date = </a:t>
            </a:r>
            <a:r>
              <a:rPr lang="en-US" sz="17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new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Date(</a:t>
            </a:r>
            <a:r>
              <a:rPr lang="en-US" sz="17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"2022-03-25"</a:t>
            </a:r>
            <a:r>
              <a:rPr lang="en-US" sz="17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);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Difference: var, let and const 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/>
          </p:nvPr>
        </p:nvSpPr>
        <p:spPr>
          <a:xfrm>
            <a:off x="828360" y="13312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81000">
              <a:lnSpc>
                <a:spcPct val="160000"/>
              </a:lnSpc>
              <a:buClr>
                <a:srgbClr val="0A0A23"/>
              </a:buClr>
              <a:buFont typeface="Arial" panose="020B0604020202020204"/>
              <a:buChar char="●"/>
            </a:pPr>
            <a:r>
              <a:rPr lang="en-US" sz="24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var</a:t>
            </a:r>
            <a:r>
              <a:rPr lang="en-US" sz="2400" b="0" u="none" strike="noStrike">
                <a:solidFill>
                  <a:srgbClr val="0A0A23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 and </a:t>
            </a:r>
            <a:r>
              <a:rPr lang="en-US" sz="24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let</a:t>
            </a:r>
            <a:r>
              <a:rPr lang="en-US" sz="2400" b="0" u="none" strike="noStrike">
                <a:solidFill>
                  <a:srgbClr val="0A0A23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 create variables that can be reassigned another value.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60000"/>
              </a:lnSpc>
              <a:buClr>
                <a:srgbClr val="0A0A23"/>
              </a:buClr>
              <a:buFont typeface="Arial" panose="020B0604020202020204"/>
              <a:buChar char="●"/>
            </a:pPr>
            <a:r>
              <a:rPr lang="en-US" sz="24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const</a:t>
            </a:r>
            <a:r>
              <a:rPr lang="en-US" sz="2400" b="0" u="none" strike="noStrike">
                <a:solidFill>
                  <a:srgbClr val="0A0A23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 creates "constant" variables that cannot be reassigned another value.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60000"/>
              </a:lnSpc>
              <a:buClr>
                <a:srgbClr val="0A0A23"/>
              </a:buClr>
              <a:buFont typeface="Arial" panose="020B0604020202020204"/>
              <a:buChar char="●"/>
            </a:pPr>
            <a:r>
              <a:rPr lang="en-US" sz="2400" b="0" u="none" strike="noStrike">
                <a:solidFill>
                  <a:srgbClr val="0A0A23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developers shouldn't use </a:t>
            </a:r>
            <a:r>
              <a:rPr lang="en-US" sz="24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var</a:t>
            </a:r>
            <a:r>
              <a:rPr lang="en-US" sz="2400" b="0" u="none" strike="noStrike">
                <a:solidFill>
                  <a:srgbClr val="0A0A23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 anymore. They should use </a:t>
            </a:r>
            <a:r>
              <a:rPr lang="en-US" sz="24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let</a:t>
            </a:r>
            <a:r>
              <a:rPr lang="en-US" sz="2400" b="0" u="none" strike="noStrike">
                <a:solidFill>
                  <a:srgbClr val="0A0A23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 or </a:t>
            </a:r>
            <a:r>
              <a:rPr lang="en-US" sz="24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const</a:t>
            </a:r>
            <a:r>
              <a:rPr lang="en-US" sz="2400" b="0" u="none" strike="noStrike">
                <a:solidFill>
                  <a:srgbClr val="0A0A23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 instead.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60000"/>
              </a:lnSpc>
              <a:buClr>
                <a:srgbClr val="0A0A23"/>
              </a:buClr>
              <a:buFont typeface="Arial" panose="020B0604020202020204"/>
              <a:buChar char="●"/>
            </a:pPr>
            <a:r>
              <a:rPr lang="en-US" sz="2400" b="0" u="none" strike="noStrike">
                <a:solidFill>
                  <a:srgbClr val="0A0A23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if you're not going to change the value of a variable, it is good practice to use </a:t>
            </a:r>
            <a:r>
              <a:rPr lang="en-US" sz="24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const</a:t>
            </a:r>
            <a:r>
              <a:rPr lang="en-US" sz="2400" b="0" u="none" strike="noStrike">
                <a:solidFill>
                  <a:srgbClr val="0A0A23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0" y="5004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Arithmetic operators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/>
          </p:nvPr>
        </p:nvSpPr>
        <p:spPr>
          <a:xfrm>
            <a:off x="89280" y="673560"/>
            <a:ext cx="9199440" cy="233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JavaScript performs implicit type coercion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String Coercion (Number → String) 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When a number is added to a string, JavaScript converts the number into a string and performs </a:t>
            </a:r>
            <a:r>
              <a:rPr lang="en-US" sz="17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concatenation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r>
              <a:rPr lang="en-US" sz="17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console.log(2 + "2"); // "22"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Number Coercion (String → Number)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When a string contains a number and is used with mathematical operators (</a:t>
            </a:r>
            <a:r>
              <a:rPr lang="en-US" sz="17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-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</a:t>
            </a:r>
            <a:r>
              <a:rPr lang="en-US" sz="17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*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</a:t>
            </a:r>
            <a:r>
              <a:rPr lang="en-US" sz="17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), JavaScript converts it into a number. console.log("10" - 5); // 5</a:t>
            </a: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87" name="Google Shape;214;p3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102120"/>
            <a:ext cx="9142560" cy="3754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0" y="5004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JS Assignment operators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89" name="Google Shape;222;p3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86800"/>
            <a:ext cx="9142560" cy="3882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JS Comparison Operators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91" name="Google Shape;229;p32"/>
          <p:cNvPicPr/>
          <p:nvPr/>
        </p:nvPicPr>
        <p:blipFill>
          <a:blip r:embed="rId1"/>
          <a:stretch>
            <a:fillRect/>
          </a:stretch>
        </p:blipFill>
        <p:spPr>
          <a:xfrm>
            <a:off x="1383840" y="1107000"/>
            <a:ext cx="5598000" cy="5140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== VS ===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93" name="Rectangle 492"/>
          <p:cNvSpPr/>
          <p:nvPr/>
        </p:nvSpPr>
        <p:spPr>
          <a:xfrm>
            <a:off x="228600" y="1828800"/>
            <a:ext cx="8685720" cy="269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1==”1”  returns true because it converts the string operand to a number and then compares.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 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1===”1” returns false because the === operator is the strict equality operator, meaning it checks both the value and the type. 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In JavaScript, only the === and !== operators perform strict comparison without type coercion.  Other operators perform type coercion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JS Objects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828360" y="113760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683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Roboto"/>
              <a:buAutoNum type="arabicPeriod"/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An object in JS contains key-value pairs.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Roboto"/>
              <a:buAutoNum type="arabicPeriod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An object can be nested, i.e., an object can contain another object.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Roboto"/>
              <a:buAutoNum type="arabicPeriod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Keys are strings, and the values can be any data type (numbers, booleans, other objects, functions etc.).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JS Objects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828360" y="113760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// Create an Object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const</a:t>
            </a: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person = {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 firstName: </a:t>
            </a:r>
            <a:r>
              <a:rPr lang="en-US" sz="19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"John"</a:t>
            </a: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,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 lastName: </a:t>
            </a:r>
            <a:r>
              <a:rPr lang="en-US" sz="19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"Doe"</a:t>
            </a: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,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 age: </a:t>
            </a:r>
            <a:r>
              <a:rPr lang="en-US" sz="19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50</a:t>
            </a: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,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 eyeColor: </a:t>
            </a:r>
            <a:r>
              <a:rPr lang="en-US" sz="19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"blue"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};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let firstName = person.firstName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let age = person[“age”]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Add new property:</a:t>
            </a: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person.nationality = "English";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9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Delete a property:</a:t>
            </a: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</a:t>
            </a:r>
            <a:r>
              <a:rPr lang="en-US" sz="19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delete</a:t>
            </a:r>
            <a:r>
              <a:rPr lang="en-US" sz="19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person.age;</a:t>
            </a:r>
            <a:endParaRPr lang="en-US" sz="19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JS Nested Objects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/>
          </p:nvPr>
        </p:nvSpPr>
        <p:spPr>
          <a:xfrm>
            <a:off x="828360" y="123516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myObj = {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 name: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"John"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,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 age:</a:t>
            </a:r>
            <a:r>
              <a:rPr lang="en-US" sz="20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30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,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 myCars: {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	car1: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"Ford"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,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   car2: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"BMW"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  }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}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myObj.myCars.car2;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myObj.myCars[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"car2"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];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myObj[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"myCars"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][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"car2"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 panose="020B0609020204030204"/>
                <a:ea typeface="Consolas" panose="020B0609020204030204"/>
              </a:rPr>
              <a:t>];</a:t>
            </a: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String methods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/>
          </p:nvPr>
        </p:nvSpPr>
        <p:spPr>
          <a:xfrm>
            <a:off x="656640" y="1331280"/>
            <a:ext cx="3092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"/>
              </a:rPr>
              <a:t>length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2"/>
              </a:rPr>
              <a:t>charAt()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3"/>
              </a:rPr>
              <a:t>toUpperCase()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4"/>
              </a:rPr>
              <a:t>toLowerCase()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5"/>
              </a:rPr>
              <a:t>at()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6"/>
              </a:rPr>
              <a:t>[ ]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7"/>
              </a:rPr>
              <a:t>slice()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8"/>
              </a:rPr>
              <a:t>substring()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9"/>
              </a:rPr>
              <a:t>substr()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explore using links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/>
          </p:nvPr>
        </p:nvSpPr>
        <p:spPr>
          <a:xfrm>
            <a:off x="3749760" y="1422720"/>
            <a:ext cx="348480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0"/>
              </a:rPr>
              <a:t>concat()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1"/>
              </a:rPr>
              <a:t>trim()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2"/>
              </a:rPr>
              <a:t>trimStart()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3"/>
              </a:rPr>
              <a:t>trimEnd()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4"/>
              </a:rPr>
              <a:t>padStart()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5"/>
              </a:rPr>
              <a:t>padEnd()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6"/>
              </a:rPr>
              <a:t>repeat()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7"/>
              </a:rPr>
              <a:t>replace()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8"/>
              </a:rPr>
              <a:t>replaceAll()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81000">
              <a:lnSpc>
                <a:spcPct val="100000"/>
              </a:lnSpc>
              <a:buClr>
                <a:srgbClr val="EFF8FC"/>
              </a:buClr>
              <a:buFont typeface="Verdana" panose="020B0604030504040204"/>
              <a:buChar char="►"/>
            </a:pPr>
            <a:r>
              <a:rPr lang="en-US" sz="24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9"/>
              </a:rPr>
              <a:t>split()</a:t>
            </a:r>
            <a:endParaRPr lang="en-US" sz="2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Number methods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504" name="Google Shape;266;p3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853280"/>
            <a:ext cx="9142560" cy="397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highlight>
                  <a:srgbClr val="D6E4F5"/>
                </a:highlight>
                <a:uFillTx/>
                <a:latin typeface="Arial" panose="020B0604020202020204"/>
                <a:ea typeface="Arial" panose="020B0604020202020204"/>
              </a:rPr>
              <a:t>Array Methods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457200" indent="-3683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  <a:hlinkClick r:id="rId1"/>
              </a:rPr>
              <a:t>length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  <a:hlinkClick r:id="rId2"/>
              </a:rPr>
              <a:t>toString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  <a:hlinkClick r:id="rId3"/>
              </a:rPr>
              <a:t>at()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  <a:hlinkClick r:id="rId4"/>
              </a:rPr>
              <a:t>join()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  <a:hlinkClick r:id="rId5"/>
              </a:rPr>
              <a:t>pop()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  <a:hlinkClick r:id="rId6"/>
              </a:rPr>
              <a:t>push()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7"/>
              </a:rPr>
              <a:t>shift()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8"/>
              </a:rPr>
              <a:t>unshift()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9"/>
              </a:rPr>
              <a:t>delete()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Roboto"/>
              <a:buChar char="►"/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  <a:hlinkClick r:id="rId10"/>
              </a:rPr>
              <a:t>concat()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explore these using links 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and more 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07" name="Google Shape;274;p38"/>
          <p:cNvSpPr/>
          <p:nvPr/>
        </p:nvSpPr>
        <p:spPr>
          <a:xfrm>
            <a:off x="4800600" y="914400"/>
            <a:ext cx="4216320" cy="488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Verdana" panose="020B0604030504040204"/>
                <a:ea typeface="Verdana" panose="020B0604030504040204"/>
                <a:hlinkClick r:id="rId11"/>
              </a:rPr>
              <a:t>sort()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sng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Verdana" panose="020B0604030504040204"/>
                <a:ea typeface="Verdana" panose="020B0604030504040204"/>
              </a:rPr>
              <a:t>reverse()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sng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Verdana" panose="020B0604030504040204"/>
                <a:ea typeface="Verdana" panose="020B0604030504040204"/>
                <a:hlinkClick r:id="rId12"/>
              </a:rPr>
              <a:t>map()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sng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Verdana" panose="020B0604030504040204"/>
                <a:ea typeface="Verdana" panose="020B0604030504040204"/>
                <a:hlinkClick r:id="rId13"/>
              </a:rPr>
              <a:t>filter()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sng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Verdana" panose="020B0604030504040204"/>
                <a:ea typeface="Verdana" panose="020B0604030504040204"/>
                <a:hlinkClick r:id="rId14"/>
              </a:rPr>
              <a:t>forEach()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CD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const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 numbers1 = [</a:t>
            </a:r>
            <a:r>
              <a:rPr lang="en-US" sz="2200" b="0" u="none" strike="noStrike">
                <a:solidFill>
                  <a:srgbClr val="FF0000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45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, </a:t>
            </a:r>
            <a:r>
              <a:rPr lang="en-US" sz="2200" b="0" u="none" strike="noStrike">
                <a:solidFill>
                  <a:srgbClr val="FF0000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4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, </a:t>
            </a:r>
            <a:r>
              <a:rPr lang="en-US" sz="2200" b="0" u="none" strike="noStrike">
                <a:solidFill>
                  <a:srgbClr val="FF0000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9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, </a:t>
            </a:r>
            <a:r>
              <a:rPr lang="en-US" sz="2200" b="0" u="none" strike="noStrike">
                <a:solidFill>
                  <a:srgbClr val="FF0000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16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, </a:t>
            </a:r>
            <a:r>
              <a:rPr lang="en-US" sz="2200" b="0" u="none" strike="noStrike">
                <a:solidFill>
                  <a:srgbClr val="FF0000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25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];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CD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const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 numbers2 = numbers1.map(myFunction);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CD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function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 myFunction(value, index, array) {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  </a:t>
            </a:r>
            <a:r>
              <a:rPr lang="en-US" sz="2200" b="0" u="none" strike="noStrike">
                <a:solidFill>
                  <a:srgbClr val="0000CD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return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 value * </a:t>
            </a:r>
            <a:r>
              <a:rPr lang="en-US" sz="2200" b="0" u="none" strike="noStrike">
                <a:solidFill>
                  <a:srgbClr val="FF0000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2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7E5F5"/>
                </a:highlight>
                <a:uFillTx/>
                <a:latin typeface="Consolas" panose="020B0609020204030204"/>
                <a:ea typeface="Consolas" panose="020B0609020204030204"/>
              </a:rPr>
              <a:t>}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08" name="Google Shape;275;p38"/>
          <p:cNvSpPr/>
          <p:nvPr/>
        </p:nvSpPr>
        <p:spPr>
          <a:xfrm>
            <a:off x="1830600" y="12240"/>
            <a:ext cx="3781440" cy="234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JS Dates 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81032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368300">
              <a:lnSpc>
                <a:spcPct val="100000"/>
              </a:lnSpc>
              <a:spcBef>
                <a:spcPts val="1200"/>
              </a:spcBef>
              <a:buClr>
                <a:srgbClr val="EFF8FC"/>
              </a:buClr>
              <a:buFont typeface="Roboto"/>
              <a:buChar char="►"/>
            </a:pP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const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d = </a:t>
            </a: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new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Date();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EFF8FC"/>
              </a:buClr>
              <a:buFont typeface="Roboto"/>
              <a:buChar char="►"/>
            </a:pP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const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d = </a:t>
            </a: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new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Date(</a:t>
            </a:r>
            <a:r>
              <a:rPr lang="en-US" sz="22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"2022-03-25"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EFF8FC"/>
              </a:buClr>
              <a:buFont typeface="Roboto"/>
              <a:buChar char="►"/>
            </a:pP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new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Date(year,month,day,hours,minutes,seconds,ms)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EFF8FC"/>
              </a:buClr>
              <a:buFont typeface="Roboto"/>
              <a:buChar char="►"/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Math.random();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Destructuring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The destructuring assignment syntax unpack object properties into variables: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const</a:t>
            </a: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 person = {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  firstName: </a:t>
            </a:r>
            <a:r>
              <a:rPr lang="en-US" sz="18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"John"</a:t>
            </a: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,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  lastName: </a:t>
            </a:r>
            <a:r>
              <a:rPr lang="en-US" sz="18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"Doe"</a:t>
            </a: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,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  age: </a:t>
            </a:r>
            <a:r>
              <a:rPr lang="en-US" sz="18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50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};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// Destructuring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let</a:t>
            </a: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 {firstName, lastName, country = </a:t>
            </a:r>
            <a:r>
              <a:rPr lang="en-US" sz="18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"US"</a:t>
            </a:r>
            <a:r>
              <a:rPr lang="en-US" sz="18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 panose="020B0604030504040204"/>
                <a:ea typeface="Verdana" panose="020B0604030504040204"/>
              </a:rPr>
              <a:t>} = person;</a:t>
            </a: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143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Destructuring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/>
          </p:nvPr>
        </p:nvSpPr>
        <p:spPr>
          <a:xfrm>
            <a:off x="952325" y="1518605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8800"/>
                </a:solidFill>
                <a:uFillTx/>
                <a:latin typeface="Verdana" panose="020B0604030504040204"/>
                <a:ea typeface="Verdana" panose="020B0604030504040204"/>
              </a:rPr>
              <a:t>function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createPerson({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   name = </a:t>
            </a:r>
            <a:r>
              <a:rPr lang="en-US" sz="1200" b="0" u="none" strike="noStrike">
                <a:solidFill>
                  <a:srgbClr val="333333"/>
                </a:solidFill>
                <a:highlight>
                  <a:srgbClr val="FFF0F0"/>
                </a:highlight>
                <a:uFillTx/>
                <a:latin typeface="Verdana" panose="020B0604030504040204"/>
                <a:ea typeface="Verdana" panose="020B0604030504040204"/>
              </a:rPr>
              <a:t>'Unknown'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,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   age = 0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} = {}) {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   </a:t>
            </a:r>
            <a:r>
              <a:rPr lang="en-US" sz="1200" b="1" u="none" strike="noStrike">
                <a:solidFill>
                  <a:srgbClr val="008800"/>
                </a:solidFill>
                <a:uFillTx/>
                <a:latin typeface="Verdana" panose="020B0604030504040204"/>
                <a:ea typeface="Verdana" panose="020B0604030504040204"/>
              </a:rPr>
              <a:t>return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{name,  age};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}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console.log(createPerson({name: </a:t>
            </a:r>
            <a:r>
              <a:rPr lang="en-US" sz="1200" b="0" u="none" strike="noStrike">
                <a:solidFill>
                  <a:srgbClr val="333333"/>
                </a:solidFill>
                <a:highlight>
                  <a:srgbClr val="FFF0F0"/>
                </a:highlight>
                <a:uFillTx/>
                <a:latin typeface="Verdana" panose="020B0604030504040204"/>
                <a:ea typeface="Verdana" panose="020B0604030504040204"/>
              </a:rPr>
              <a:t>'Alice'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, age:30})); 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88888"/>
                </a:solidFill>
                <a:uFillTx/>
                <a:latin typeface="Verdana" panose="020B0604030504040204"/>
                <a:ea typeface="Verdana" panose="020B0604030504040204"/>
              </a:rPr>
              <a:t>// { name: 'Alice', age: 30 } 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console.log(createPerson({})); 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88888"/>
                </a:solidFill>
                <a:uFillTx/>
                <a:latin typeface="Verdana" panose="020B0604030504040204"/>
                <a:ea typeface="Verdana" panose="020B0604030504040204"/>
              </a:rPr>
              <a:t>// { name: 'Unknown', age: 0 }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console.log(createPerson());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88888"/>
                </a:solidFill>
                <a:uFillTx/>
                <a:latin typeface="Verdana" panose="020B0604030504040204"/>
                <a:ea typeface="Verdana" panose="020B0604030504040204"/>
              </a:rPr>
              <a:t>// { name: 'Unknown', age: 0 }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Function Declaration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656640" y="13312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8800"/>
                </a:solidFill>
                <a:uFillTx/>
                <a:latin typeface="Verdana" panose="020B0604030504040204"/>
                <a:ea typeface="Verdana" panose="020B0604030504040204"/>
              </a:rPr>
              <a:t>function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functionName(parameter1, parameter2) {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 </a:t>
            </a:r>
            <a:r>
              <a:rPr lang="en-US" sz="1200" b="0" u="none" strike="noStrike">
                <a:solidFill>
                  <a:srgbClr val="888888"/>
                </a:solidFill>
                <a:uFillTx/>
                <a:latin typeface="Verdana" panose="020B0604030504040204"/>
                <a:ea typeface="Verdana" panose="020B0604030504040204"/>
              </a:rPr>
              <a:t>// Code to be executed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 </a:t>
            </a:r>
            <a:r>
              <a:rPr lang="en-US" sz="1200" b="1" u="none" strike="noStrike">
                <a:solidFill>
                  <a:srgbClr val="008800"/>
                </a:solidFill>
                <a:uFillTx/>
                <a:latin typeface="Verdana" panose="020B0604030504040204"/>
                <a:ea typeface="Verdana" panose="020B0604030504040204"/>
              </a:rPr>
              <a:t>return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result;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}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7020"/>
                </a:solidFill>
                <a:uFillTx/>
                <a:latin typeface="Verdana" panose="020B0604030504040204"/>
                <a:ea typeface="Verdana" panose="020B0604030504040204"/>
              </a:rPr>
              <a:t>Function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</a:t>
            </a:r>
            <a:r>
              <a:rPr lang="en-US" sz="1200" b="1" u="none" strike="noStrike">
                <a:solidFill>
                  <a:srgbClr val="008800"/>
                </a:solidFill>
                <a:uFillTx/>
                <a:latin typeface="Verdana" panose="020B0604030504040204"/>
                <a:ea typeface="Verdana" panose="020B0604030504040204"/>
              </a:rPr>
              <a:t>with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</a:t>
            </a:r>
            <a:r>
              <a:rPr lang="en-US" sz="1200" b="1" u="none" strike="noStrike">
                <a:solidFill>
                  <a:srgbClr val="008800"/>
                </a:solidFill>
                <a:uFillTx/>
                <a:latin typeface="Verdana" panose="020B0604030504040204"/>
                <a:ea typeface="Verdana" panose="020B0604030504040204"/>
              </a:rPr>
              <a:t>default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parameters: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8800"/>
                </a:solidFill>
                <a:uFillTx/>
                <a:latin typeface="Verdana" panose="020B0604030504040204"/>
                <a:ea typeface="Verdana" panose="020B0604030504040204"/>
              </a:rPr>
              <a:t>function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functionName(parameter1, parameter2=”default value”) {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 </a:t>
            </a:r>
            <a:r>
              <a:rPr lang="en-US" sz="1200" b="0" u="none" strike="noStrike">
                <a:solidFill>
                  <a:srgbClr val="888888"/>
                </a:solidFill>
                <a:uFillTx/>
                <a:latin typeface="Verdana" panose="020B0604030504040204"/>
                <a:ea typeface="Verdana" panose="020B0604030504040204"/>
              </a:rPr>
              <a:t>// Code to be executed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 </a:t>
            </a:r>
            <a:r>
              <a:rPr lang="en-US" sz="1200" b="1" u="none" strike="noStrike">
                <a:solidFill>
                  <a:srgbClr val="008800"/>
                </a:solidFill>
                <a:uFillTx/>
                <a:latin typeface="Verdana" panose="020B0604030504040204"/>
                <a:ea typeface="Verdana" panose="020B0604030504040204"/>
              </a:rPr>
              <a:t>return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result;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}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Arrow Function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Arrow functions in JavaScript provide a more concise syntax for writing functions. They are particularly useful for short function bodies.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If the function has a single expression, you can omit the curly braces and 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"/>
                <a:ea typeface="Roboto"/>
              </a:rPr>
              <a:t>return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statement: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8800"/>
                </a:solidFill>
                <a:uFillTx/>
                <a:latin typeface="Verdana" panose="020B0604030504040204"/>
                <a:ea typeface="Verdana" panose="020B0604030504040204"/>
              </a:rPr>
              <a:t>            const</a:t>
            </a:r>
            <a:r>
              <a:rPr lang="en-US" sz="1200" b="0" u="none" strike="noStrike">
                <a:solidFill>
                  <a:srgbClr val="333333"/>
                </a:solidFill>
                <a:uFillTx/>
                <a:latin typeface="Verdana" panose="020B0604030504040204"/>
                <a:ea typeface="Verdana" panose="020B0604030504040204"/>
              </a:rPr>
              <a:t> add = (a, b) =&gt; a + b;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19" name="Google Shape;311;p43"/>
          <p:cNvSpPr/>
          <p:nvPr/>
        </p:nvSpPr>
        <p:spPr>
          <a:xfrm>
            <a:off x="1362240" y="3082320"/>
            <a:ext cx="2998440" cy="14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8800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const</a:t>
            </a: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 functionName = (param1, param2) =&gt; {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  </a:t>
            </a:r>
            <a:r>
              <a:rPr lang="en-US" sz="1200" b="0" u="none" strike="noStrike">
                <a:solidFill>
                  <a:srgbClr val="888888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// function body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  </a:t>
            </a:r>
            <a:r>
              <a:rPr lang="en-US" sz="1200" b="1" u="none" strike="noStrike">
                <a:solidFill>
                  <a:srgbClr val="008800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return</a:t>
            </a: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 param1 + param2;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};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28600">
              <a:lnSpc>
                <a:spcPct val="11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Arrow Function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If there is only a single parameter, then you can remove parentheses  around parameter.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22" name="Google Shape;319;p44"/>
          <p:cNvSpPr/>
          <p:nvPr/>
        </p:nvSpPr>
        <p:spPr>
          <a:xfrm>
            <a:off x="1362240" y="3082320"/>
            <a:ext cx="2998440" cy="14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8800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const</a:t>
            </a: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 functionName = param1 =&gt; {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  </a:t>
            </a:r>
            <a:r>
              <a:rPr lang="en-US" sz="1200" b="0" u="none" strike="noStrike">
                <a:solidFill>
                  <a:srgbClr val="888888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// function body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  </a:t>
            </a:r>
            <a:r>
              <a:rPr lang="en-US" sz="1200" b="1" u="none" strike="noStrike">
                <a:solidFill>
                  <a:srgbClr val="008800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return</a:t>
            </a: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 param1 + 1;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};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228600">
              <a:lnSpc>
                <a:spcPct val="11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23" name="Rectangle 522"/>
          <p:cNvSpPr/>
          <p:nvPr/>
        </p:nvSpPr>
        <p:spPr>
          <a:xfrm>
            <a:off x="1362240" y="4531320"/>
            <a:ext cx="5723640" cy="83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8800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const</a:t>
            </a:r>
            <a:r>
              <a:rPr lang="en-US" sz="1200" b="0" u="none" strike="noStrike">
                <a:solidFill>
                  <a:srgbClr val="333333"/>
                </a:solidFill>
                <a:highlight>
                  <a:srgbClr val="FFFFFF"/>
                </a:highlight>
                <a:uFillTx/>
                <a:latin typeface="Verdana" panose="020B0604030504040204"/>
                <a:ea typeface="Verdana" panose="020B0604030504040204"/>
              </a:rPr>
              <a:t> functionName = param1 =&gt; param1+1</a:t>
            </a:r>
            <a:endParaRPr lang="en-US" sz="1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3840" cy="13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Resources to Learn</a:t>
            </a:r>
            <a:endParaRPr lang="en-US" sz="4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/>
          </p:nvPr>
        </p:nvSpPr>
        <p:spPr>
          <a:xfrm>
            <a:off x="304920" y="1600200"/>
            <a:ext cx="8609040" cy="41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Slide 15: Resources to Learn More</a:t>
            </a:r>
            <a:endParaRPr lang="en-US" sz="2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937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Websites:</a:t>
            </a:r>
            <a:endParaRPr lang="en-US" sz="2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914400" lvl="1" indent="-3937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○"/>
              <a:tabLst>
                <a:tab pos="0" algn="l"/>
              </a:tabLst>
            </a:pPr>
            <a:r>
              <a:rPr lang="en-US" sz="2600" b="0" u="sng" strike="noStrike">
                <a:solidFill>
                  <a:schemeClr val="hlink"/>
                </a:solidFill>
                <a:uFillTx/>
                <a:latin typeface="Arial" panose="020B0604020202020204"/>
                <a:ea typeface="Arial" panose="020B0604020202020204"/>
                <a:hlinkClick r:id="rId1"/>
              </a:rPr>
              <a:t>MDN Web Docs</a:t>
            </a:r>
            <a:r>
              <a:rPr lang="en-US" sz="26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914400" lvl="1" indent="-3937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○"/>
              <a:tabLst>
                <a:tab pos="0" algn="l"/>
              </a:tabLst>
            </a:pPr>
            <a:r>
              <a:rPr lang="en-US" sz="2600" b="0" u="sng" strike="noStrike">
                <a:solidFill>
                  <a:schemeClr val="hlink"/>
                </a:solidFill>
                <a:uFillTx/>
                <a:latin typeface="Arial" panose="020B0604020202020204"/>
                <a:ea typeface="Arial" panose="020B0604020202020204"/>
                <a:hlinkClick r:id="rId2"/>
              </a:rPr>
              <a:t>JavaScript.info</a:t>
            </a:r>
            <a:r>
              <a:rPr lang="en-US" sz="26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937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Platforms:</a:t>
            </a:r>
            <a:endParaRPr lang="en-US" sz="2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914400" lvl="1" indent="-3937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○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FreeCodeCamp, Codecademy, or W3Schools.</a:t>
            </a:r>
            <a:endParaRPr lang="en-US" sz="2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6364</Words>
  <Application>WPS Presentation</Application>
  <PresentationFormat>On-screen Show (4:3)</PresentationFormat>
  <Paragraphs>319</Paragraphs>
  <Slides>28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38</vt:i4>
      </vt:variant>
      <vt:variant>
        <vt:lpstr>幻灯片标题</vt:lpstr>
      </vt:variant>
      <vt:variant>
        <vt:i4>28</vt:i4>
      </vt:variant>
    </vt:vector>
  </HeadingPairs>
  <TitlesOfParts>
    <vt:vector size="82" baseType="lpstr">
      <vt:lpstr>Arial</vt:lpstr>
      <vt:lpstr>SimSun</vt:lpstr>
      <vt:lpstr>Wingdings</vt:lpstr>
      <vt:lpstr>Arial</vt:lpstr>
      <vt:lpstr>Times New Roman</vt:lpstr>
      <vt:lpstr>Symbol</vt:lpstr>
      <vt:lpstr>Calibri</vt:lpstr>
      <vt:lpstr>Roboto</vt:lpstr>
      <vt:lpstr>Times New Roman</vt:lpstr>
      <vt:lpstr>Noto Sans Symbols</vt:lpstr>
      <vt:lpstr>Roboto Mono</vt:lpstr>
      <vt:lpstr>Segoe Print</vt:lpstr>
      <vt:lpstr>Consolas</vt:lpstr>
      <vt:lpstr>Microsoft YaHei</vt:lpstr>
      <vt:lpstr>Arial Unicode MS</vt:lpstr>
      <vt:lpstr>Verdana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JavaScript</vt:lpstr>
      <vt:lpstr>What is javascript?</vt:lpstr>
      <vt:lpstr>Why javascript?</vt:lpstr>
      <vt:lpstr>Inline JavaScript</vt:lpstr>
      <vt:lpstr>Embedded JavaScript</vt:lpstr>
      <vt:lpstr>Using External Scripts</vt:lpstr>
      <vt:lpstr>JavaScript’s Reputation </vt:lpstr>
      <vt:lpstr>JavaScript’s Reputation </vt:lpstr>
      <vt:lpstr>Javascript Basic Syntax</vt:lpstr>
      <vt:lpstr>Data Types</vt:lpstr>
      <vt:lpstr>Difference: var, let and const </vt:lpstr>
      <vt:lpstr>Arithmetic operators</vt:lpstr>
      <vt:lpstr>JS Assignment operators</vt:lpstr>
      <vt:lpstr>JS Comparison Operators</vt:lpstr>
      <vt:lpstr>== VS ===</vt:lpstr>
      <vt:lpstr>JS Objects</vt:lpstr>
      <vt:lpstr>JS Objects</vt:lpstr>
      <vt:lpstr>JS Nested Objects</vt:lpstr>
      <vt:lpstr>String methods</vt:lpstr>
      <vt:lpstr>Number methods</vt:lpstr>
      <vt:lpstr>Array Methods</vt:lpstr>
      <vt:lpstr>JS Dates </vt:lpstr>
      <vt:lpstr>Destructuring</vt:lpstr>
      <vt:lpstr>Destructuring</vt:lpstr>
      <vt:lpstr>Function Declaration</vt:lpstr>
      <vt:lpstr>Arrow Function</vt:lpstr>
      <vt:lpstr>Arrow Function</vt:lpstr>
      <vt:lpstr>Resources to Learn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JavaScript</dc:title>
  <dc:creator/>
  <cp:lastModifiedBy>dell</cp:lastModifiedBy>
  <cp:revision>21</cp:revision>
  <dcterms:created xsi:type="dcterms:W3CDTF">2025-09-21T09:03:00Z</dcterms:created>
  <dcterms:modified xsi:type="dcterms:W3CDTF">2025-11-05T01:59:33Z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4B6FD86248AF49BE98818C63565FE4D2_12</vt:lpwstr>
  </property>
  <property fmtid="{D5CDD505-2E9C-101B-9397-08002B2CF9AE}" pid="3" name="KSOProductBuildVer">
    <vt:lpwstr>1033-12.2.0.23131</vt:lpwstr>
  </property>
</Properties>
</file>