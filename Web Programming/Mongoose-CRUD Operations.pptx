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7" r:id="rId13"/>
    <p:sldMasterId id="2147483679" r:id="rId14"/>
    <p:sldMasterId id="2147483681" r:id="rId15"/>
    <p:sldMasterId id="2147483683" r:id="rId16"/>
    <p:sldMasterId id="2147483685" r:id="rId17"/>
    <p:sldMasterId id="2147483687" r:id="rId18"/>
  </p:sldMasterIdLst>
  <p:notesMasterIdLst>
    <p:notesMasterId r:id="rId20"/>
  </p:notesMasterIdLst>
  <p:sldIdLst>
    <p:sldId id="256" r:id="rId19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  <p:sldId id="278" r:id="rId42"/>
    <p:sldId id="279" r:id="rId43"/>
    <p:sldId id="280" r:id="rId44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25.xml"/><Relationship Id="rId43" Type="http://schemas.openxmlformats.org/officeDocument/2006/relationships/slide" Target="slides/slide24.xml"/><Relationship Id="rId42" Type="http://schemas.openxmlformats.org/officeDocument/2006/relationships/slide" Target="slides/slide23.xml"/><Relationship Id="rId41" Type="http://schemas.openxmlformats.org/officeDocument/2006/relationships/slide" Target="slides/slide22.xml"/><Relationship Id="rId40" Type="http://schemas.openxmlformats.org/officeDocument/2006/relationships/slide" Target="slides/slide2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0.xml"/><Relationship Id="rId38" Type="http://schemas.openxmlformats.org/officeDocument/2006/relationships/slide" Target="slides/slide19.xml"/><Relationship Id="rId37" Type="http://schemas.openxmlformats.org/officeDocument/2006/relationships/slide" Target="slides/slide18.xml"/><Relationship Id="rId36" Type="http://schemas.openxmlformats.org/officeDocument/2006/relationships/slide" Target="slides/slide17.xml"/><Relationship Id="rId35" Type="http://schemas.openxmlformats.org/officeDocument/2006/relationships/slide" Target="slides/slide16.xml"/><Relationship Id="rId34" Type="http://schemas.openxmlformats.org/officeDocument/2006/relationships/slide" Target="slides/slide15.xml"/><Relationship Id="rId33" Type="http://schemas.openxmlformats.org/officeDocument/2006/relationships/slide" Target="slides/slide14.xml"/><Relationship Id="rId32" Type="http://schemas.openxmlformats.org/officeDocument/2006/relationships/slide" Target="slides/slide13.xml"/><Relationship Id="rId31" Type="http://schemas.openxmlformats.org/officeDocument/2006/relationships/slide" Target="slides/slide12.xml"/><Relationship Id="rId30" Type="http://schemas.openxmlformats.org/officeDocument/2006/relationships/slide" Target="slides/slide1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0.xml"/><Relationship Id="rId28" Type="http://schemas.openxmlformats.org/officeDocument/2006/relationships/slide" Target="slides/slide9.xml"/><Relationship Id="rId27" Type="http://schemas.openxmlformats.org/officeDocument/2006/relationships/slide" Target="slides/slide8.xml"/><Relationship Id="rId26" Type="http://schemas.openxmlformats.org/officeDocument/2006/relationships/slide" Target="slides/slide7.xml"/><Relationship Id="rId25" Type="http://schemas.openxmlformats.org/officeDocument/2006/relationships/slide" Target="slides/slide6.xml"/><Relationship Id="rId24" Type="http://schemas.openxmlformats.org/officeDocument/2006/relationships/slide" Target="slides/slide5.xml"/><Relationship Id="rId23" Type="http://schemas.openxmlformats.org/officeDocument/2006/relationships/slide" Target="slides/slide4.xml"/><Relationship Id="rId22" Type="http://schemas.openxmlformats.org/officeDocument/2006/relationships/slide" Target="slides/slide3.xml"/><Relationship Id="rId21" Type="http://schemas.openxmlformats.org/officeDocument/2006/relationships/slide" Target="slides/slide2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move the slide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5900" indent="-215900">
              <a:buNone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 type="dt" idx="3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248" name="PlaceHolder 5"/>
          <p:cNvSpPr>
            <a:spLocks noGrp="1"/>
          </p:cNvSpPr>
          <p:nvPr>
            <p:ph type="ftr" idx="3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249" name="PlaceHolder 6"/>
          <p:cNvSpPr>
            <a:spLocks noGrp="1"/>
          </p:cNvSpPr>
          <p:nvPr>
            <p:ph type="sldNum" idx="3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4F00EA48-6F3C-4CBD-9501-5DD894A65665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.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329DE79-2119-4E14-BAF8-F966C9982D57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FE37EF2-93F7-4FFE-B56A-D475B60E716A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21CC052-D2E9-46F0-BAD5-212BAC2949F8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67E436D-AD21-4114-953C-F582DCEA7662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5951BA0-3886-4327-89B1-EB9524C6684A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68DD158-DD55-40C4-895F-4ADB7C25E039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49036C4-1364-47FF-B9F2-A730DF4BDE39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180A63B-F968-4405-94A3-BF7BC41DBB2D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A1A4E44-87B8-4F08-8A5E-037E9C11748C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0BEAC09-73F9-41C8-968C-D97A0396728D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ED777D3-6662-4396-86EA-CC7AB3F0B83C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C65002C-CE9E-4113-BD1C-FEE758D7B7F7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3B50085-34D2-4681-A337-EF146FBB1434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FBBA9C9-9F33-4CC1-818D-147A2E086FD0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B02A28B-E872-4588-A6D4-99F6448705CB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D7B2E3C-676D-4890-8183-E5AA5B43F3CA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BAA2E85-0A9C-4E4C-BC47-5BA018B2038D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D4A18C1-FE92-40AC-A63E-BF0763F4F8B4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5784E43-3209-4E08-A888-881538BAF5FF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6412190-FFBA-48C2-9077-AF4D571AA2C2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F0B5E46-ED5E-4CA0-82F7-CBBD22ADD62B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FF66F90-6BA4-4191-825C-5789C0B09AB8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FDDF076-9170-4FCC-B4BE-2686930A4F8D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3D96E03-7600-44A6-9B8B-C444719AD645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C2ECB50-E1B6-4560-A5C9-8B7962B2C09D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9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4266720" y="2053080"/>
            <a:ext cx="32749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9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4266720" y="2053080"/>
            <a:ext cx="32749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9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0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theme" Target="../theme/theme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theme" Target="../theme/theme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2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theme" Target="../theme/theme1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7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8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65800" y="1854360"/>
            <a:ext cx="3820320" cy="1574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>
              <a:buNone/>
            </a:pPr>
            <a:r>
              <a:rPr lang="en-US" sz="36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213520" y="1143000"/>
            <a:ext cx="2400480" cy="457164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 fontScale="325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866520" y="3657600"/>
            <a:ext cx="3814200" cy="137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1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2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9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20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66520" y="4800600"/>
            <a:ext cx="662076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66520" y="685800"/>
            <a:ext cx="6620760" cy="364032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866520" y="5367240"/>
            <a:ext cx="66207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3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4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9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0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1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32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33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66520" y="1447920"/>
            <a:ext cx="6620760" cy="198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</a:pPr>
            <a:r>
              <a:rPr lang="en-US" sz="4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66520" y="3657600"/>
            <a:ext cx="6620760" cy="236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5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6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9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0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1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2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3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44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45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181520" y="1447920"/>
            <a:ext cx="6000840" cy="232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</a:pPr>
            <a:r>
              <a:rPr lang="en-US" sz="4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448280" y="3771000"/>
            <a:ext cx="5460840" cy="34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66520" y="4350600"/>
            <a:ext cx="6620760" cy="1676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775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7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8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51" name="Google Shape;85;p40"/>
          <p:cNvSpPr/>
          <p:nvPr/>
        </p:nvSpPr>
        <p:spPr>
          <a:xfrm>
            <a:off x="673920" y="971280"/>
            <a:ext cx="601200" cy="1950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2200" b="0" u="none" strike="noStrike">
                <a:solidFill>
                  <a:srgbClr val="EFF8FC"/>
                </a:solidFill>
                <a:uFillTx/>
                <a:latin typeface="Arial" panose="020B0604020202020204"/>
                <a:ea typeface="Arial" panose="020B0604020202020204"/>
              </a:rPr>
              <a:t>“</a:t>
            </a:r>
            <a:endParaRPr lang="en-US" sz="1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2" name="Google Shape;86;p40"/>
          <p:cNvSpPr/>
          <p:nvPr/>
        </p:nvSpPr>
        <p:spPr>
          <a:xfrm>
            <a:off x="6999840" y="2613960"/>
            <a:ext cx="601200" cy="1950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2200" b="0" u="none" strike="noStrike">
                <a:solidFill>
                  <a:srgbClr val="EFF8FC"/>
                </a:solidFill>
                <a:uFillTx/>
                <a:latin typeface="Arial" panose="020B0604020202020204"/>
                <a:ea typeface="Arial" panose="020B0604020202020204"/>
              </a:rPr>
              <a:t>”</a:t>
            </a:r>
            <a:endParaRPr lang="en-US" sz="1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4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5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6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7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8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59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60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66520" y="3124080"/>
            <a:ext cx="6620760" cy="165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</a:pPr>
            <a:r>
              <a:rPr lang="en-US" sz="4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866520" y="4777560"/>
            <a:ext cx="662076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9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10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6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7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8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9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0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71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72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74840" y="1981080"/>
            <a:ext cx="221040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89600" y="2666880"/>
            <a:ext cx="2195640" cy="358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2913480" y="1981080"/>
            <a:ext cx="220248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2905560" y="2666880"/>
            <a:ext cx="2210400" cy="358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body"/>
          </p:nvPr>
        </p:nvSpPr>
        <p:spPr>
          <a:xfrm>
            <a:off x="5344920" y="1981080"/>
            <a:ext cx="219924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 type="body"/>
          </p:nvPr>
        </p:nvSpPr>
        <p:spPr>
          <a:xfrm>
            <a:off x="5344920" y="2666880"/>
            <a:ext cx="2199240" cy="358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cxnSp>
        <p:nvCxnSpPr>
          <p:cNvPr id="80" name="Google Shape;100;p42"/>
          <p:cNvCxnSpPr/>
          <p:nvPr/>
        </p:nvCxnSpPr>
        <p:spPr>
          <a:xfrm>
            <a:off x="2795040" y="2133360"/>
            <a:ext cx="360" cy="396288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cxnSp>
        <p:nvCxnSpPr>
          <p:cNvPr id="81" name="Google Shape;101;p42"/>
          <p:cNvCxnSpPr/>
          <p:nvPr/>
        </p:nvCxnSpPr>
        <p:spPr>
          <a:xfrm>
            <a:off x="5222880" y="2133360"/>
            <a:ext cx="360" cy="396720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sp>
        <p:nvSpPr>
          <p:cNvPr id="82" name="PlaceHolder 8"/>
          <p:cNvSpPr>
            <a:spLocks noGrp="1"/>
          </p:cNvSpPr>
          <p:nvPr>
            <p:ph type="dt" idx="11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83" name="PlaceHolder 9"/>
          <p:cNvSpPr>
            <a:spLocks noGrp="1"/>
          </p:cNvSpPr>
          <p:nvPr>
            <p:ph type="ftr" idx="12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5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6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7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8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9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90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91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89600" y="4250880"/>
            <a:ext cx="220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89600" y="2209680"/>
            <a:ext cx="2205360" cy="152352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 fontScale="250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489600" y="4827240"/>
            <a:ext cx="2205360" cy="65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body"/>
          </p:nvPr>
        </p:nvSpPr>
        <p:spPr>
          <a:xfrm>
            <a:off x="2917800" y="4250880"/>
            <a:ext cx="21981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 type="body"/>
          </p:nvPr>
        </p:nvSpPr>
        <p:spPr>
          <a:xfrm>
            <a:off x="2917800" y="2209680"/>
            <a:ext cx="2198160" cy="152352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 fontScale="250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8" name="PlaceHolder 7"/>
          <p:cNvSpPr>
            <a:spLocks noGrp="1"/>
          </p:cNvSpPr>
          <p:nvPr>
            <p:ph type="body"/>
          </p:nvPr>
        </p:nvSpPr>
        <p:spPr>
          <a:xfrm>
            <a:off x="2916720" y="4827240"/>
            <a:ext cx="2201040" cy="65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9" name="PlaceHolder 8"/>
          <p:cNvSpPr>
            <a:spLocks noGrp="1"/>
          </p:cNvSpPr>
          <p:nvPr>
            <p:ph type="body"/>
          </p:nvPr>
        </p:nvSpPr>
        <p:spPr>
          <a:xfrm>
            <a:off x="5344920" y="4250880"/>
            <a:ext cx="219924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0" name="PlaceHolder 9"/>
          <p:cNvSpPr>
            <a:spLocks noGrp="1"/>
          </p:cNvSpPr>
          <p:nvPr>
            <p:ph type="body"/>
          </p:nvPr>
        </p:nvSpPr>
        <p:spPr>
          <a:xfrm>
            <a:off x="5344920" y="2209680"/>
            <a:ext cx="2199240" cy="152352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 fontScale="250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1" name="PlaceHolder 10"/>
          <p:cNvSpPr>
            <a:spLocks noGrp="1"/>
          </p:cNvSpPr>
          <p:nvPr>
            <p:ph type="body"/>
          </p:nvPr>
        </p:nvSpPr>
        <p:spPr>
          <a:xfrm>
            <a:off x="5344920" y="4827240"/>
            <a:ext cx="2202120" cy="65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cxnSp>
        <p:nvCxnSpPr>
          <p:cNvPr id="102" name="Google Shape;115;p43"/>
          <p:cNvCxnSpPr/>
          <p:nvPr/>
        </p:nvCxnSpPr>
        <p:spPr>
          <a:xfrm>
            <a:off x="2795040" y="2133360"/>
            <a:ext cx="360" cy="396288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cxnSp>
        <p:nvCxnSpPr>
          <p:cNvPr id="103" name="Google Shape;116;p43"/>
          <p:cNvCxnSpPr/>
          <p:nvPr/>
        </p:nvCxnSpPr>
        <p:spPr>
          <a:xfrm>
            <a:off x="5222880" y="2133360"/>
            <a:ext cx="360" cy="396720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sp>
        <p:nvSpPr>
          <p:cNvPr id="104" name="PlaceHolder 11"/>
          <p:cNvSpPr>
            <a:spLocks noGrp="1"/>
          </p:cNvSpPr>
          <p:nvPr>
            <p:ph type="dt" idx="13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05" name="PlaceHolder 12"/>
          <p:cNvSpPr>
            <a:spLocks noGrp="1"/>
          </p:cNvSpPr>
          <p:nvPr>
            <p:ph type="ftr" idx="14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7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8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9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0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1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12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113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 rot="5400000">
            <a:off x="2086200" y="794880"/>
            <a:ext cx="4195080" cy="67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15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ftr" idx="16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9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0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1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2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3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24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125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 rot="5400000">
            <a:off x="3974040" y="2685960"/>
            <a:ext cx="5825880" cy="131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 rot="5400000">
            <a:off x="532440" y="730080"/>
            <a:ext cx="5482800" cy="556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17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ftr" idx="18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1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2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3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4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5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36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137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66520" y="1447920"/>
            <a:ext cx="6620760" cy="332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</a:pPr>
            <a:r>
              <a:rPr lang="en-US" sz="7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7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dt" idx="19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ftr" idx="20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5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6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7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8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9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50" name="Google Shape;18;p28"/>
          <p:cNvPicPr/>
          <p:nvPr/>
        </p:nvPicPr>
        <p:blipFill>
          <a:blip r:embed="rId9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151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dt" idx="21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ftr" idx="22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</p:sldLayoutIdLst>
  <p:txStyles>
    <p:titleStyle/>
    <p:bodyStyle/>
    <p:otherStyle/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7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8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9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0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1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72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173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66520" y="2861640"/>
            <a:ext cx="6620760" cy="191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</a:pPr>
            <a:r>
              <a:rPr lang="en-US" sz="4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866520" y="4777560"/>
            <a:ext cx="662076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dt" idx="23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ftr" idx="24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</p:sldLayoutIdLst>
  <p:txStyles>
    <p:titleStyle/>
    <p:bodyStyle/>
    <p:otherStyle/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9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0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1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2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3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84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185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827640" y="2060640"/>
            <a:ext cx="3297600" cy="419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4241880" y="2055960"/>
            <a:ext cx="3297600" cy="41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type="dt" idx="25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90" name="PlaceHolder 5"/>
          <p:cNvSpPr>
            <a:spLocks noGrp="1"/>
          </p:cNvSpPr>
          <p:nvPr>
            <p:ph type="ftr" idx="26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</p:sldLayoutIdLst>
  <p:txStyles>
    <p:titleStyle/>
    <p:bodyStyle/>
    <p:otherStyle/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5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6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7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8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9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00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201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827640" y="1905120"/>
            <a:ext cx="329760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body"/>
          </p:nvPr>
        </p:nvSpPr>
        <p:spPr>
          <a:xfrm>
            <a:off x="827640" y="2514600"/>
            <a:ext cx="3297600" cy="374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body"/>
          </p:nvPr>
        </p:nvSpPr>
        <p:spPr>
          <a:xfrm>
            <a:off x="4241880" y="1905120"/>
            <a:ext cx="329760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 type="body"/>
          </p:nvPr>
        </p:nvSpPr>
        <p:spPr>
          <a:xfrm>
            <a:off x="4241880" y="2514600"/>
            <a:ext cx="3297600" cy="374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7" name="PlaceHolder 6"/>
          <p:cNvSpPr>
            <a:spLocks noGrp="1"/>
          </p:cNvSpPr>
          <p:nvPr>
            <p:ph type="dt" idx="27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08" name="PlaceHolder 7"/>
          <p:cNvSpPr>
            <a:spLocks noGrp="1"/>
          </p:cNvSpPr>
          <p:nvPr>
            <p:ph type="ftr" idx="28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</p:sldLayoutIdLst>
  <p:txStyles>
    <p:titleStyle/>
    <p:bodyStyle/>
    <p:otherStyle/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0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1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2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3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4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15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216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dt" idx="29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ftr" idx="30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</p:sldLayoutIdLst>
  <p:txStyles>
    <p:titleStyle/>
    <p:bodyStyle/>
    <p:otherStyle/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2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3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4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5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6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27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228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 type="dt" idx="31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ftr" idx="32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</p:sldLayoutIdLst>
  <p:txStyles>
    <p:titleStyle/>
    <p:bodyStyle/>
    <p:otherStyle/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2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3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4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5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6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37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238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866520" y="1447920"/>
            <a:ext cx="255096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3589560" y="1447920"/>
            <a:ext cx="3897720" cy="457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866520" y="3129120"/>
            <a:ext cx="2550960" cy="289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dt" idx="33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 type="ftr" idx="34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800280" y="1276200"/>
            <a:ext cx="7772040" cy="18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Web Programming</a:t>
            </a: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pic>
        <p:nvPicPr>
          <p:cNvPr id="251" name="Google Shape;135;p1"/>
          <p:cNvPicPr/>
          <p:nvPr/>
        </p:nvPicPr>
        <p:blipFill>
          <a:blip r:embed="rId1"/>
          <a:srcRect t="50052"/>
          <a:stretch>
            <a:fillRect/>
          </a:stretch>
        </p:blipFill>
        <p:spPr>
          <a:xfrm>
            <a:off x="1066680" y="3362400"/>
            <a:ext cx="7622640" cy="13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Google Shape;136;p1"/>
          <p:cNvSpPr/>
          <p:nvPr/>
        </p:nvSpPr>
        <p:spPr>
          <a:xfrm>
            <a:off x="3256920" y="3697560"/>
            <a:ext cx="5254920" cy="541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spAutoFit/>
          </a:bodyPr>
          <a:p>
            <a:pPr marL="1270">
              <a:lnSpc>
                <a:spcPct val="107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MongoDB - CRUD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53" name="Google Shape;137;p1"/>
          <p:cNvSpPr/>
          <p:nvPr/>
        </p:nvSpPr>
        <p:spPr>
          <a:xfrm>
            <a:off x="2106720" y="4505400"/>
            <a:ext cx="2999520" cy="676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spAutoFit/>
          </a:bodyPr>
          <a:p>
            <a:pPr marL="1270">
              <a:lnSpc>
                <a:spcPct val="107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Mongoose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580320" y="1494000"/>
            <a:ext cx="7728120" cy="445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ODM (Object Data Modeling) library for MongoDB</a:t>
            </a:r>
            <a:br>
              <a:rPr sz="2200"/>
            </a:b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Simplifies interaction between Node.js and MongoDB</a:t>
            </a:r>
            <a:br>
              <a:rPr sz="2200"/>
            </a:b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Provides:</a:t>
            </a:r>
            <a:br>
              <a:rPr sz="2200"/>
            </a:b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29845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Schema definitions</a:t>
            </a:r>
            <a:br>
              <a:rPr sz="2200"/>
            </a:b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29845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Model-based access</a:t>
            </a:r>
            <a:br>
              <a:rPr sz="2200"/>
            </a:b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29845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Middleware, validation, hooks, etc.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Defining a Schema and Model (.js file)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7" name="Google Shape;151;g342d2d22371_0_39"/>
          <p:cNvSpPr/>
          <p:nvPr/>
        </p:nvSpPr>
        <p:spPr>
          <a:xfrm>
            <a:off x="484560" y="1687680"/>
            <a:ext cx="7836120" cy="4874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const mongoose = require('mongoose');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const userSchema = new mongoose.Schema({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name: String,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email: String,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age: Number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});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const User = mongoose.model('User', userSchema);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Schema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defines the structure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Model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is used to interact with the collection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205200" y="24732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C - Create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139680" y="1428120"/>
            <a:ext cx="841608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newUser = new User({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name: 'Ali',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email: 'ali@example.com',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age: 25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newUser.save()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.then(user =&gt; console.log('Saved:', user))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.catch(err =&gt; console.error('Error:', err));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R - Read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611280" y="1277640"/>
            <a:ext cx="876852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 Find All Users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User.find()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.then(users =&gt; console.log(users));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//Find by ID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User.findById('ID_HERE')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.then(user =&gt; console.log(user));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//Find One with Condition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User.findOne({ email: 'john@example.com' })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.then(user =&gt; console.log(user))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.catch(err =&gt; console.log('Error:', err));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R - Read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600480" y="1331280"/>
            <a:ext cx="876852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//Find Multiple with condition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User.find({ name: 'John Doe' })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.then(users =&gt; console.log(users))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.catch(err =&gt; console.log('Error:', err));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//Find Multiple with multiple condition (AND)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User.find({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age: { $gte: 18 },</a:t>
            </a:r>
            <a:r>
              <a:rPr lang="en-US" sz="19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 Age greater than or equal to 18</a:t>
            </a:r>
            <a:endParaRPr lang="en-US" sz="19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name: 'John Doe'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	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 Name should be 'John Doe'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})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.then(users =&gt; console.log(users))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.catch(err =&gt; console.log('Error:', err));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R - READ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763200" y="153684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uFillTx/>
                <a:latin typeface="Arial" panose="020B0604020202020204"/>
                <a:ea typeface="Arial" panose="020B0604020202020204"/>
              </a:rPr>
              <a:t>//Find with Multiple Conditions (OR)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User.find({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$or: [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	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{ age: { $gte: 18 } }, 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	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{ name: 'John Doe' }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]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})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.then(users =&gt; console.log(users))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.catch(err =&gt; console.log('Error:', err));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86587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READ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67" name="Google Shape;186;g342d2d22371_0_32"/>
          <p:cNvSpPr/>
          <p:nvPr/>
        </p:nvSpPr>
        <p:spPr>
          <a:xfrm>
            <a:off x="64440" y="1762920"/>
            <a:ext cx="9143640" cy="3534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User.find({ age: { $ne: 30 } }) //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$ne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 Not equal to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User.find({ age: { $gt: 18 } }) //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$gt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 Greater than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User.find({ age: { $gte: 18 } }) //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$gte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 Greater than or equal to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User.find({ age: { $lt: 30 } })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$lt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 Less than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User.find({ age: { $lte: 30 } })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$lte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 Less than or equal to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User.find({ age: { $in: [20, 25, 30] } })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$in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User.find({ age: { $nin: [20, 25, 30] } })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$nin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 Not in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READ with async/await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async function doStuff() {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users = await User.find();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console.log(users); 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Sort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484560" y="1399320"/>
            <a:ext cx="8494920" cy="472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.sort({ field: 1 })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means: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5814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1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→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Ascending order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(smallest to biggest)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5814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-1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→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Descending order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(biggest to smallest)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User.find({ name: "John" }).sort({ age: 1 })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 Youngest John first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User.find({ name: "John" }).sort({ createdAt: -1 })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 Most recent John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User.find().sort({ score: -1, username: -1 });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//Multiple sort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U - Update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548280" y="1268280"/>
            <a:ext cx="831600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To update an existing product, use the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findByIdAndUpdate()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method: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userId = 'user_id_here';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User.findByIdAndUpdate(userId, { $set: { age: 30 } }, { new: true })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.then(user =&gt; console.log('Updated:', user));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{ new: true }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returns updated document else old document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You can also use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.updateOne()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or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.findOneAndUpdate()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151560" y="431280"/>
            <a:ext cx="821088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U - Update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656640" y="1289880"/>
            <a:ext cx="7415640" cy="470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uFillTx/>
                <a:latin typeface="Arial" panose="020B0604020202020204"/>
                <a:ea typeface="Arial" panose="020B0604020202020204"/>
              </a:rPr>
              <a:t>// Update a single user named 'John'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User.findOneAndUpdate({ name: 'john' }, { $set: { age: 30 } }, { new: true })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.then(user =&gt; console.log('Updated:', user))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uFillTx/>
                <a:latin typeface="Arial" panose="020B0604020202020204"/>
                <a:ea typeface="Arial" panose="020B0604020202020204"/>
              </a:rPr>
              <a:t>// To update </a:t>
            </a:r>
            <a:r>
              <a:rPr lang="en-US" sz="2000" b="1" u="none" strike="noStrike">
                <a:solidFill>
                  <a:srgbClr val="188038"/>
                </a:solidFill>
                <a:uFillTx/>
                <a:latin typeface="Arial" panose="020B0604020202020204"/>
                <a:ea typeface="Arial" panose="020B0604020202020204"/>
              </a:rPr>
              <a:t>all users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Arial" panose="020B0604020202020204"/>
                <a:ea typeface="Arial" panose="020B0604020202020204"/>
              </a:rPr>
              <a:t> named 'John', you would use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updateMany()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User.updateMany({ name: 'john' }, { $set: { age: 30 } })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.then(result =&gt; console.log('Updated users:', result))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.catch(err =&gt; console.error('Error:', err));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Update and validate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709920" y="141012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Mongoose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does NOT run validations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on update queries because MongoDB runs updates directly on the database — it skips the Mongoose document layer where validation happens.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User.findByIdAndUpdate(userId, { age: 30 },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{ new: true, runValidators: true }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)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.then(user =&gt; console.log('Updated:', user));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Multiple updates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570600" y="1495800"/>
            <a:ext cx="857304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userID = “whatever”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User.findByIdAndUpdate(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userId,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{ $set: { age: 30, email: 'newemail@example.com' } },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{ new: true })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.then(user =&gt; console.log('Updated:', user))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84600" y="150480"/>
            <a:ext cx="821088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D - Delete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1" name="Google Shape;235;g342d2d22371_0_3"/>
          <p:cNvSpPr/>
          <p:nvPr/>
        </p:nvSpPr>
        <p:spPr>
          <a:xfrm>
            <a:off x="84600" y="956520"/>
            <a:ext cx="8974080" cy="1980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User.findByIdAndDelete('ID_HERE')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.then(() =&gt; console.log('User deleted'));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Also supports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.deleteOne()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or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.deleteMany()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441720" y="550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CRUD with Relation (1-M)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226800" y="1160640"/>
            <a:ext cx="891720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We'll create a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User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model and a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Post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model. A user can have many posts, so we will establish a one-to-many relationship between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User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and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Post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where: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A user can have multiple posts.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Each post belongs to a single user.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User Model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559800" y="1246680"/>
            <a:ext cx="8314920" cy="425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mongoose = require('mongoose');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userSchema = new mongoose.Schema({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name: { type: String, required: true },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email: { type: String, required: true, unique: true }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User = mongoose.model('User', userSchema);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module.exports = User;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Post Model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559080" y="1160640"/>
            <a:ext cx="8584920" cy="4106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mongoose = require('mongoose');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postSchema = new mongoose.Schema({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title: { type: String, required: true },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content: { type: String, required: true },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user: { type: mongoose.Schema.Types.ObjectId, ref: 'User' } 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 This establishes the one-to-many relationship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Post = mongoose.model('Post', postSchema);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module.exports = Post;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54720" y="-6336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CREATE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/>
          </p:nvPr>
        </p:nvSpPr>
        <p:spPr>
          <a:xfrm>
            <a:off x="118080" y="612360"/>
            <a:ext cx="8358840" cy="471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const mongoose = require('mongoose');</a:t>
            </a:r>
            <a:endParaRPr lang="en-US" sz="17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const User = require('./models/User');</a:t>
            </a:r>
            <a:endParaRPr lang="en-US" sz="17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const Post = require('./models/Post');</a:t>
            </a:r>
            <a:endParaRPr lang="en-US" sz="17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const createUserAndPost = async () =&gt; {</a:t>
            </a:r>
            <a:endParaRPr lang="en-US" sz="17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const user = new User({</a:t>
            </a:r>
            <a:endParaRPr lang="en-US" sz="17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	name: 'Alice',</a:t>
            </a:r>
            <a:endParaRPr lang="en-US" sz="17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	email: 'alice@example.com'</a:t>
            </a:r>
            <a:endParaRPr lang="en-US" sz="17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});</a:t>
            </a:r>
            <a:endParaRPr lang="en-US" sz="17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await user.save();  </a:t>
            </a:r>
            <a:r>
              <a:rPr lang="en-US" sz="17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// Save the user</a:t>
            </a:r>
            <a:endParaRPr lang="en-US" sz="17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// Create a post for this user</a:t>
            </a:r>
            <a:endParaRPr lang="en-US" sz="17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const post = new Post({</a:t>
            </a:r>
            <a:endParaRPr lang="en-US" sz="17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	title: 'First Post',</a:t>
            </a:r>
            <a:endParaRPr lang="en-US" sz="17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	content: 'This is my first post.',</a:t>
            </a:r>
            <a:endParaRPr lang="en-US" sz="17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	user: user._id </a:t>
            </a:r>
            <a:r>
              <a:rPr lang="en-US" sz="17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// Reference the user. why _id?</a:t>
            </a:r>
            <a:endParaRPr lang="en-US" sz="17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});</a:t>
            </a:r>
            <a:endParaRPr lang="en-US" sz="17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334800" y="-6912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id vs _id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244080" y="806040"/>
            <a:ext cx="865512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_id</a:t>
            </a:r>
            <a:r>
              <a:rPr lang="en-US" sz="20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5560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Type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ObjectId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556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This is the </a:t>
            </a:r>
            <a:r>
              <a:rPr lang="en-US" sz="20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actual identifier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ObjectId("603d5f4e6e1d2b1e44a9bbd9")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.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556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You typically see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_id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when you query documents directly in MongoDB or Mongoose. It’s a </a:t>
            </a:r>
            <a:r>
              <a:rPr lang="en-US" sz="20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unique identifier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for each document.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2. </a:t>
            </a:r>
            <a:r>
              <a:rPr lang="en-US" sz="2000" b="1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id</a:t>
            </a:r>
            <a:r>
              <a:rPr lang="en-US" sz="20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5560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Type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String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556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String representation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of the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_id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field.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556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ObjectId("603d5f4e6e1d2b1e44a9bbd9")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, the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id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would return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"603d5f4e6e1d2b1e44a9bbd9"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, which is easier to work with in some cases.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556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The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id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property is especially useful when you need to send the ID as a string in API responses or in JavaScript code.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9423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Read Posts of a Specific User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656640" y="1331280"/>
            <a:ext cx="7727400" cy="44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findUserPosts = async (userId) =&gt; {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userPosts = await Post.find({ user: userId }).populate('user');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console.log('User Posts:', userPosts);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Arial" panose="020B0604020202020204"/>
                <a:ea typeface="Arial" panose="020B0604020202020204"/>
              </a:rPr>
              <a:t>// Find all posts for the user with a specific ID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Arial" panose="020B0604020202020204"/>
                <a:ea typeface="Arial" panose="020B0604020202020204"/>
              </a:rPr>
              <a:t>// replace with actual user ID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findUserPosts('USER_ID_HERE');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By using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populate()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, we can easily get the user information when fetching posts.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Populate()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803988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The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populate()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method in Mongoose is used to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populate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references to documents from other collections. It allows you to perform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joins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(similar to SQL joins) in MongoDB by fetching documents from other collections based on referenced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ObjectId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fields.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280440" y="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Specifying Which Fields to Populate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484560" y="1515600"/>
            <a:ext cx="853344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You can also specify which fields to populate in the referenced document.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findPostsWithUserNameAndEmail = async () =&gt; {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posts = await Post.find()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	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.populate('user', 'name email');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// Only populate name and email of the user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Here, the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user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field will be populated with just the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name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and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email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fields of the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User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model.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findPostsWithUserNameAndEmail();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538560" y="33444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Populating Multiple References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591120" y="1734840"/>
            <a:ext cx="838404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You can populate multiple references within a single query.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findPostWithUserAndComments = async () =&gt; {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posts = await Post.find()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	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.populate('user', 'name') // Populate user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	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.populate('comments'); // Populate comments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In this case, the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Post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model has two references: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user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and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comments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. We use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populate()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to fetch user details and comment details.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Delete 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pic>
        <p:nvPicPr>
          <p:cNvPr id="301" name="Google Shape;305;g34bed693cd2_0_43"/>
          <p:cNvPicPr/>
          <p:nvPr/>
        </p:nvPicPr>
        <p:blipFill>
          <a:blip r:embed="rId1"/>
          <a:stretch>
            <a:fillRect/>
          </a:stretch>
        </p:blipFill>
        <p:spPr>
          <a:xfrm>
            <a:off x="985680" y="1279080"/>
            <a:ext cx="6900480" cy="4970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6932</Words>
  <Application>WPS Presentation</Application>
  <PresentationFormat/>
  <Paragraphs>270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17</vt:i4>
      </vt:variant>
      <vt:variant>
        <vt:lpstr>幻灯片标题</vt:lpstr>
      </vt:variant>
      <vt:variant>
        <vt:i4>25</vt:i4>
      </vt:variant>
    </vt:vector>
  </HeadingPairs>
  <TitlesOfParts>
    <vt:vector size="56" baseType="lpstr">
      <vt:lpstr>Arial</vt:lpstr>
      <vt:lpstr>SimSun</vt:lpstr>
      <vt:lpstr>Wingdings</vt:lpstr>
      <vt:lpstr>Arial</vt:lpstr>
      <vt:lpstr>Symbol</vt:lpstr>
      <vt:lpstr>Times New Roman</vt:lpstr>
      <vt:lpstr>Calibri</vt:lpstr>
      <vt:lpstr>Roboto Mono</vt:lpstr>
      <vt:lpstr>Segoe Print</vt:lpstr>
      <vt:lpstr>Microsoft YaHei</vt:lpstr>
      <vt:lpstr>Arial Unicode MS</vt:lpstr>
      <vt:lpstr>Cascadia Code Light</vt:lpstr>
      <vt:lpstr>Cascadia Code</vt:lpstr>
      <vt:lpstr>Lucida Sans Unicode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Web Programming</vt:lpstr>
      <vt:lpstr>Mongoose</vt:lpstr>
      <vt:lpstr>Defining a Schema and Model (.js file)</vt:lpstr>
      <vt:lpstr>C - Create</vt:lpstr>
      <vt:lpstr>R - Read</vt:lpstr>
      <vt:lpstr>R - Read</vt:lpstr>
      <vt:lpstr>R - READ</vt:lpstr>
      <vt:lpstr>READ</vt:lpstr>
      <vt:lpstr>READ with async/await</vt:lpstr>
      <vt:lpstr>Sort</vt:lpstr>
      <vt:lpstr>U - Update</vt:lpstr>
      <vt:lpstr>U - Update</vt:lpstr>
      <vt:lpstr>Update and validate</vt:lpstr>
      <vt:lpstr>Multiple updates</vt:lpstr>
      <vt:lpstr>D - Delete</vt:lpstr>
      <vt:lpstr>CRUD with Relation (1-M)</vt:lpstr>
      <vt:lpstr>User Model</vt:lpstr>
      <vt:lpstr>Post Model</vt:lpstr>
      <vt:lpstr>CREATE</vt:lpstr>
      <vt:lpstr>id vs _id</vt:lpstr>
      <vt:lpstr>Read Posts of a Specific User</vt:lpstr>
      <vt:lpstr>Populate()</vt:lpstr>
      <vt:lpstr>Specifying Which Fields to Populate</vt:lpstr>
      <vt:lpstr>Populating Multiple References</vt:lpstr>
      <vt:lpstr>Delete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dell</cp:lastModifiedBy>
  <cp:revision>3</cp:revision>
  <dcterms:created xsi:type="dcterms:W3CDTF">2012-07-03T07:32:00Z</dcterms:created>
  <dcterms:modified xsi:type="dcterms:W3CDTF">2025-12-22T12:27:44Z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2B0D481DE79F49EEA157664FD52D30DC_12</vt:lpwstr>
  </property>
  <property fmtid="{D5CDD505-2E9C-101B-9397-08002B2CF9AE}" pid="3" name="KSOProductBuildVer">
    <vt:lpwstr>1033-12.2.0.23155</vt:lpwstr>
  </property>
</Properties>
</file>