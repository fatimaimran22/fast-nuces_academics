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7" r:id="rId13"/>
    <p:sldMasterId id="2147483679" r:id="rId14"/>
    <p:sldMasterId id="2147483681" r:id="rId15"/>
    <p:sldMasterId id="2147483683" r:id="rId16"/>
    <p:sldMasterId id="2147483685" r:id="rId17"/>
    <p:sldMasterId id="2147483687" r:id="rId18"/>
  </p:sldMasterIdLst>
  <p:notesMasterIdLst>
    <p:notesMasterId r:id="rId20"/>
  </p:notesMasterIdLst>
  <p:sldIdLst>
    <p:sldId id="256" r:id="rId19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596" autoAdjust="0"/>
  </p:normalViewPr>
  <p:slideViewPr>
    <p:cSldViewPr snapToGrid="0" showGuides="1">
      <p:cViewPr varScale="1">
        <p:scale>
          <a:sx n="61" d="100"/>
          <a:sy n="61" d="100"/>
        </p:scale>
        <p:origin x="144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dt" idx="3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ftr" idx="3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F7E5D0B1-A900-4A08-BEA0-2B9DE9AC7DC0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.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C130A8-B2C5-47F9-B006-39150611E84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5E8B9B-7FF2-469D-A0F6-19E98E052C56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B81212A-826A-4713-8AB7-1FAF982D703E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6A2E4FE-50D3-4694-AE4F-550C4191498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C40A0D-50C6-4282-950B-484EDCFF86B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630F84-99CF-4A02-91AC-7AD0E115B56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16E1FC-E6FC-49C2-BA01-EAE0F7F41C3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D4D8E7-7937-45E0-B8F0-CBB776BE353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C90494-9BC7-4AD3-9772-BDADD9224D9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7AA94F-7C6C-4BA8-959A-841DFCD4933B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0525F8-0808-4A5D-9098-57567886E1CB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5BA343-1AFB-4509-8111-2827D345720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356B3D-4622-487E-8BEB-E05699401C4B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7444A4-1B6D-4D7E-9909-B5D72EDBD12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F5947F5-B3AE-44C8-BA19-37B6E34429D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124FFC-4DDF-4371-8561-ABDF7A06DF9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7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26672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26672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7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0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7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65800" y="1854360"/>
            <a:ext cx="3820320" cy="157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36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213520" y="1143000"/>
            <a:ext cx="2400480" cy="457164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66520" y="3657600"/>
            <a:ext cx="381420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9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0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66520" y="4800600"/>
            <a:ext cx="6620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66520" y="685800"/>
            <a:ext cx="6620760" cy="36403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66520" y="5367240"/>
            <a:ext cx="66207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3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20760" cy="198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66520" y="3657600"/>
            <a:ext cx="6620760" cy="236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4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81520" y="1447920"/>
            <a:ext cx="6000840" cy="232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448280" y="3771000"/>
            <a:ext cx="5460840" cy="34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66520" y="4350600"/>
            <a:ext cx="662076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51" name="Google Shape;85;p40"/>
          <p:cNvSpPr/>
          <p:nvPr/>
        </p:nvSpPr>
        <p:spPr>
          <a:xfrm>
            <a:off x="673920" y="971280"/>
            <a:ext cx="601200" cy="19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“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2" name="Google Shape;86;p40"/>
          <p:cNvSpPr/>
          <p:nvPr/>
        </p:nvSpPr>
        <p:spPr>
          <a:xfrm>
            <a:off x="6999840" y="2613960"/>
            <a:ext cx="601200" cy="19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”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8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59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60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66520" y="3124080"/>
            <a:ext cx="6620760" cy="165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20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1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7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8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9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0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71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72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74840" y="1981080"/>
            <a:ext cx="22104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89600" y="2666880"/>
            <a:ext cx="21956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2913480" y="1981080"/>
            <a:ext cx="220248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2905560" y="2666880"/>
            <a:ext cx="221040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5344920" y="1981080"/>
            <a:ext cx="2199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5344920" y="2666880"/>
            <a:ext cx="21992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cxnSp>
        <p:nvCxnSpPr>
          <p:cNvPr id="80" name="Google Shape;100;p42"/>
          <p:cNvCxnSpPr/>
          <p:nvPr/>
        </p:nvCxnSpPr>
        <p:spPr>
          <a:xfrm>
            <a:off x="2795040" y="2133360"/>
            <a:ext cx="360" cy="39628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81" name="Google Shape;101;p42"/>
          <p:cNvCxnSpPr/>
          <p:nvPr/>
        </p:nvCxnSpPr>
        <p:spPr>
          <a:xfrm>
            <a:off x="5222880" y="2133360"/>
            <a:ext cx="360" cy="39672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82" name="PlaceHolder 8"/>
          <p:cNvSpPr>
            <a:spLocks noGrp="1"/>
          </p:cNvSpPr>
          <p:nvPr>
            <p:ph type="dt" idx="1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83" name="PlaceHolder 9"/>
          <p:cNvSpPr>
            <a:spLocks noGrp="1"/>
          </p:cNvSpPr>
          <p:nvPr>
            <p:ph type="ftr" idx="1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9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9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89600" y="4250880"/>
            <a:ext cx="220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89600" y="2209680"/>
            <a:ext cx="22053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89600" y="4827240"/>
            <a:ext cx="220536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2917800" y="4250880"/>
            <a:ext cx="21981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body"/>
          </p:nvPr>
        </p:nvSpPr>
        <p:spPr>
          <a:xfrm>
            <a:off x="2917800" y="2209680"/>
            <a:ext cx="21981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8" name="PlaceHolder 7"/>
          <p:cNvSpPr>
            <a:spLocks noGrp="1"/>
          </p:cNvSpPr>
          <p:nvPr>
            <p:ph type="body"/>
          </p:nvPr>
        </p:nvSpPr>
        <p:spPr>
          <a:xfrm>
            <a:off x="2916720" y="4827240"/>
            <a:ext cx="220104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9" name="PlaceHolder 8"/>
          <p:cNvSpPr>
            <a:spLocks noGrp="1"/>
          </p:cNvSpPr>
          <p:nvPr>
            <p:ph type="body"/>
          </p:nvPr>
        </p:nvSpPr>
        <p:spPr>
          <a:xfrm>
            <a:off x="5344920" y="4250880"/>
            <a:ext cx="2199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0" name="PlaceHolder 9"/>
          <p:cNvSpPr>
            <a:spLocks noGrp="1"/>
          </p:cNvSpPr>
          <p:nvPr>
            <p:ph type="body"/>
          </p:nvPr>
        </p:nvSpPr>
        <p:spPr>
          <a:xfrm>
            <a:off x="5344920" y="2209680"/>
            <a:ext cx="219924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1" name="PlaceHolder 10"/>
          <p:cNvSpPr>
            <a:spLocks noGrp="1"/>
          </p:cNvSpPr>
          <p:nvPr>
            <p:ph type="body"/>
          </p:nvPr>
        </p:nvSpPr>
        <p:spPr>
          <a:xfrm>
            <a:off x="5344920" y="4827240"/>
            <a:ext cx="220212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cxnSp>
        <p:nvCxnSpPr>
          <p:cNvPr id="102" name="Google Shape;115;p43"/>
          <p:cNvCxnSpPr/>
          <p:nvPr/>
        </p:nvCxnSpPr>
        <p:spPr>
          <a:xfrm>
            <a:off x="2795040" y="2133360"/>
            <a:ext cx="360" cy="39628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103" name="Google Shape;116;p43"/>
          <p:cNvCxnSpPr/>
          <p:nvPr/>
        </p:nvCxnSpPr>
        <p:spPr>
          <a:xfrm>
            <a:off x="5222880" y="2133360"/>
            <a:ext cx="360" cy="39672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104" name="PlaceHolder 11"/>
          <p:cNvSpPr>
            <a:spLocks noGrp="1"/>
          </p:cNvSpPr>
          <p:nvPr>
            <p:ph type="dt" idx="1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05" name="PlaceHolder 12"/>
          <p:cNvSpPr>
            <a:spLocks noGrp="1"/>
          </p:cNvSpPr>
          <p:nvPr>
            <p:ph type="ftr" idx="1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1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1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 rot="5400000">
            <a:off x="2086200" y="794880"/>
            <a:ext cx="4195080" cy="67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1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ftr" idx="1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2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2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 rot="5400000">
            <a:off x="3974040" y="2685960"/>
            <a:ext cx="5825880" cy="131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 rot="5400000">
            <a:off x="532440" y="730080"/>
            <a:ext cx="5482800" cy="556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1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1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1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2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3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4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5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3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37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20760" cy="332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7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dt" idx="1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ftr" idx="2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50" name="Google Shape;18;p28"/>
          <p:cNvPicPr/>
          <p:nvPr/>
        </p:nvPicPr>
        <p:blipFill>
          <a:blip r:embed="rId9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5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2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ftr" idx="2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7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7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66520" y="2861640"/>
            <a:ext cx="6620760" cy="19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20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2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2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8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18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827640" y="2060640"/>
            <a:ext cx="3297600" cy="419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4241880" y="2055960"/>
            <a:ext cx="3297600" cy="41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dt" idx="2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ftr" idx="2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0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0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827640" y="1905120"/>
            <a:ext cx="3297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827640" y="2514600"/>
            <a:ext cx="329760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4241880" y="1905120"/>
            <a:ext cx="3297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4241880" y="2514600"/>
            <a:ext cx="329760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dt" idx="2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 type="ftr" idx="2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0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1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2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3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4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15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16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dt" idx="2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ftr" idx="3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27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2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dt" idx="3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ftr" idx="3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2000"/>
                </a:srgbClr>
              </a:gs>
              <a:gs pos="36000">
                <a:srgbClr val="E8F5FB">
                  <a:alpha val="1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2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6000"/>
                </a:srgbClr>
              </a:gs>
              <a:gs pos="36000">
                <a:srgbClr val="E8F5FB">
                  <a:alpha val="5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3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37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4000"/>
              </a:srgbClr>
            </a:outerShdw>
          </a:effectLst>
        </p:spPr>
      </p:pic>
      <p:sp>
        <p:nvSpPr>
          <p:cNvPr id="23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25509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3589560" y="1447920"/>
            <a:ext cx="389772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866520" y="3129120"/>
            <a:ext cx="2550960" cy="289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dt" idx="3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ftr" idx="3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nodejs.org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00280" y="1276200"/>
            <a:ext cx="777204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Web Programming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251" name="Google Shape;135;p1"/>
          <p:cNvPicPr/>
          <p:nvPr/>
        </p:nvPicPr>
        <p:blipFill>
          <a:blip r:embed="rId1"/>
          <a:srcRect t="50052"/>
          <a:stretch>
            <a:fillRect/>
          </a:stretch>
        </p:blipFill>
        <p:spPr>
          <a:xfrm>
            <a:off x="1066680" y="3362400"/>
            <a:ext cx="762264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Google Shape;136;p1"/>
          <p:cNvSpPr/>
          <p:nvPr/>
        </p:nvSpPr>
        <p:spPr>
          <a:xfrm>
            <a:off x="3256920" y="3697560"/>
            <a:ext cx="5254920" cy="54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1270">
              <a:lnSpc>
                <a:spcPct val="107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Node - CRUD  - Files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53" name="Google Shape;137;p1"/>
          <p:cNvSpPr/>
          <p:nvPr/>
        </p:nvSpPr>
        <p:spPr>
          <a:xfrm>
            <a:off x="2106720" y="4505400"/>
            <a:ext cx="299952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1270">
              <a:lnSpc>
                <a:spcPct val="107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Node.js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580320" y="1494000"/>
            <a:ext cx="7728120" cy="445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Node.js is a JavaScript runtime built on Chrome's V8 engine.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Allows you to run JavaScript on the server.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Non-blocking, event-driven architecture – great for web apps &amp; APIs.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Express.js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Definition: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Express is a minimalistic and flexible Node.js web application framework.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Purpose: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Simplifies routing, handling HTTP requests, middleware.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Setup Node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Install Node.js: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Go to</a:t>
            </a:r>
            <a:r>
              <a:rPr lang="en-US" sz="2200" b="0" u="sng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  <a:hlinkClick r:id="rId1"/>
              </a:rPr>
              <a:t> </a:t>
            </a:r>
            <a:r>
              <a:rPr lang="en-US" sz="22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1"/>
              </a:rPr>
              <a:t>nodejs.org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and install the latest version.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Verify Installation: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Open terminal and run: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node -v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npm -v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205200" y="24732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Setup a Project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96840" y="1042200"/>
            <a:ext cx="841608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# 1. Create a folder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mkdir backend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cd backend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# 2. Initialize Node.js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npm init -y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# 3. Install mongoose and express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npm install express mongoose cors dotenv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npm install --save-dev nodemon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mkdir controllers db routes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# 4. Create main file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touch index.js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npm run dev</a:t>
            </a:r>
            <a:endParaRPr lang="en-US" sz="18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File Structure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3" name="Google Shape;172;g342d2d22371_0_39"/>
          <p:cNvSpPr/>
          <p:nvPr/>
        </p:nvSpPr>
        <p:spPr>
          <a:xfrm>
            <a:off x="484560" y="1300680"/>
            <a:ext cx="783612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64" name="Picture 263"/>
          <p:cNvPicPr/>
          <p:nvPr/>
        </p:nvPicPr>
        <p:blipFill>
          <a:blip r:embed="rId1"/>
          <a:stretch>
            <a:fillRect/>
          </a:stretch>
        </p:blipFill>
        <p:spPr>
          <a:xfrm>
            <a:off x="2971800" y="1335600"/>
            <a:ext cx="2914200" cy="424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MongoDB connection (db/config.js)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751440" y="185280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import mongoose from ‘mongoose’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connectDB = async () =&gt; {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try {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await mongoose.connect(‘mongodb://localhost:27017/myDB’);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console.log('MongoDB connected');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} catch (err) {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console.error(err.message);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	process.exit(1);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}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};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export default connectDB;</a:t>
            </a:r>
            <a:endParaRPr lang="en-US" sz="16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db/models/user.js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827640" y="160020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import mongoose from ‘mongoose’</a:t>
            </a:r>
            <a:endParaRPr lang="en-US" sz="17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userSchema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email: { type: String, required: true, unique: true }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}, { timestamps: true });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UserModel= mongoose.model('User', userSchema);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export default UserModel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routes/user.js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85800" y="137160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import express from 'express'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import { getUsersController, createUserController } from '../controllers/user.js'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userRouter = express.Router();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router.get('/', getUsersController);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router.post('/', createUserController);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Export default userRouter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controllers/user.js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645480" y="1143000"/>
            <a:ext cx="714456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import {getAllUsers, createNewUser} from '../db/operations/user.js';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export const getUsersController = async (req, res) =&gt; {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const users = await getAllUsers();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res.json(users);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export const createUser = async (req, res) =&gt; {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const user = await createNewUser(req.body.name, req.body.email);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res.status(201).json(user);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db/operations/user.js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308160" y="1930320"/>
            <a:ext cx="8580960" cy="3546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import UserModel from '../models/user.js';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export const getAllUsers = async() =&gt; {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return await UserModel.find();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};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export const createNewUser = async (name, email) =&gt; {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return await UserModel.create({name, email})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};</a:t>
            </a:r>
            <a:endParaRPr lang="en-US" sz="2000" b="0" u="none" strike="noStrike">
              <a:solidFill>
                <a:srgbClr val="FFFFFF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206280" y="-9396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index.js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276" name="Picture 275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1143000"/>
            <a:ext cx="7222320" cy="368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Middleware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828360" y="160704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457200" indent="-320040">
              <a:lnSpc>
                <a:spcPct val="100000"/>
              </a:lnSpc>
              <a:spcBef>
                <a:spcPts val="1000"/>
              </a:spcBef>
              <a:buClr>
                <a:srgbClr val="EFF8FC"/>
              </a:buClr>
              <a:buFont typeface="Noto Sans Symbols"/>
              <a:buChar char="●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The use function in app, i.e., </a:t>
            </a:r>
            <a:r>
              <a:rPr lang="en-US" sz="2000" b="1" u="none" strike="noStrike">
                <a:solidFill>
                  <a:schemeClr val="dk1"/>
                </a:solidFill>
                <a:highlight>
                  <a:srgbClr val="FFFF00"/>
                </a:highlight>
                <a:uFillTx/>
                <a:latin typeface="Arial" panose="020B0604020202020204"/>
                <a:ea typeface="Arial" panose="020B0604020202020204"/>
              </a:rPr>
              <a:t>app.use()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is used to call middleware functions.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0040">
              <a:lnSpc>
                <a:spcPct val="100000"/>
              </a:lnSpc>
              <a:spcBef>
                <a:spcPts val="1000"/>
              </a:spcBef>
              <a:buClr>
                <a:srgbClr val="EFF8FC"/>
              </a:buClr>
              <a:buFont typeface="Noto Sans Symbols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Middleware are functions that 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FFFF00"/>
                </a:highlight>
                <a:uFillTx/>
                <a:latin typeface="Arial" panose="020B0604020202020204"/>
                <a:ea typeface="Arial" panose="020B0604020202020204"/>
              </a:rPr>
              <a:t>intercept an incoming request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before the request can be handled by the concerned route handler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FFFF00"/>
                </a:highlight>
                <a:uFillTx/>
                <a:latin typeface="Arial" panose="020B0604020202020204"/>
                <a:ea typeface="Arial" panose="020B0604020202020204"/>
              </a:rPr>
              <a:t> (controller).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0040">
              <a:lnSpc>
                <a:spcPct val="100000"/>
              </a:lnSpc>
              <a:spcBef>
                <a:spcPts val="1000"/>
              </a:spcBef>
              <a:buClr>
                <a:srgbClr val="EFF8FC"/>
              </a:buClr>
              <a:buFont typeface="Noto Sans Symbols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In the previous code, </a:t>
            </a:r>
            <a:r>
              <a:rPr lang="en-US" sz="2000" b="1" u="none" strike="noStrike">
                <a:solidFill>
                  <a:srgbClr val="FF0000"/>
                </a:solidFill>
                <a:uFillTx/>
                <a:latin typeface="Arial" panose="020B0604020202020204"/>
                <a:ea typeface="Arial" panose="020B0604020202020204"/>
              </a:rPr>
              <a:t>app.use(express.json()),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express.json() is middleware that intercepts the incoming request and parses the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FFFF00"/>
                </a:highlight>
                <a:uFillTx/>
                <a:latin typeface="Arial" panose="020B0604020202020204"/>
                <a:ea typeface="Arial" panose="020B0604020202020204"/>
              </a:rPr>
              <a:t> json body/payload if it exists and puts the parsed json body in req.body 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as JS object.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run server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581400" y="116352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package.json: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"scripts": 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"start": "node index.js",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"dev": "nodemon index.js"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Type this command on the terminal: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npm run dev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Rest Routes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282" name="Google Shape;236;g342d2d22371_0_5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521720"/>
            <a:ext cx="9143640" cy="3814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3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Pass Parameter as body to api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99000" y="739440"/>
            <a:ext cx="90446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#1: Client-side (React, etc.)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You send a request like: (Create)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POST /items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Content-Type: application/json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{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 "name": "Notebook",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 "quantity": 10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}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#2: Server-side (Node.js with Express)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The server receives the request. 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{ name, quantity } = req.body;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This line extracts </a:t>
            </a:r>
            <a:r>
              <a:rPr lang="en-US" sz="17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name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and </a:t>
            </a:r>
            <a:r>
              <a:rPr lang="en-US" sz="17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quantity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from the request body.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#3: Passing to Model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Then, Mongoose uses these values to create a new document: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newItem = new Item({ name, quantity });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await newItem.save();</a:t>
            </a: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409680" y="0"/>
            <a:ext cx="81730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Pass Parameter as body to api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409680" y="720360"/>
            <a:ext cx="87685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#1: Client-side (React, etc.)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You send a request like: (Update)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PATCH /items/12345678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Content-Type: application/json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{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"name": "Updated Item",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"quantity": 20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#2: Server-side (Node.js with Express)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The server receives the request. 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{ name, quantity } = req.body;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#3: Passing to Model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item = await Item.findByIdAndUpdate(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req.params.id,	</a:t>
            </a: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The item ID passed in the URL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{ name, quantity }, </a:t>
            </a: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The data passed in the body of the request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{ new: true, runValidators: true }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);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3788</Words>
  <Application>WPS Presentation</Application>
  <PresentationFormat>On-screen Show (4:3)</PresentationFormat>
  <Paragraphs>167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17</vt:i4>
      </vt:variant>
      <vt:variant>
        <vt:lpstr>幻灯片标题</vt:lpstr>
      </vt:variant>
      <vt:variant>
        <vt:i4>17</vt:i4>
      </vt:variant>
    </vt:vector>
  </HeadingPairs>
  <TitlesOfParts>
    <vt:vector size="47" baseType="lpstr">
      <vt:lpstr>Arial</vt:lpstr>
      <vt:lpstr>SimSun</vt:lpstr>
      <vt:lpstr>Wingdings</vt:lpstr>
      <vt:lpstr>Arial</vt:lpstr>
      <vt:lpstr>Symbol</vt:lpstr>
      <vt:lpstr>Times New Roman</vt:lpstr>
      <vt:lpstr>Calibri</vt:lpstr>
      <vt:lpstr>Roboto Mono</vt:lpstr>
      <vt:lpstr>Segoe Print</vt:lpstr>
      <vt:lpstr>Noto Sans Symbols</vt:lpstr>
      <vt:lpstr>Microsoft YaHei</vt:lpstr>
      <vt:lpstr>Arial Unicode MS</vt:lpstr>
      <vt:lpstr>Cascadia Code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Web Programming</vt:lpstr>
      <vt:lpstr>Node.js</vt:lpstr>
      <vt:lpstr>Express.js</vt:lpstr>
      <vt:lpstr>Setup Node</vt:lpstr>
      <vt:lpstr>Setup a Project</vt:lpstr>
      <vt:lpstr>File Structure</vt:lpstr>
      <vt:lpstr>MongoDB connection (db/config.js)</vt:lpstr>
      <vt:lpstr>db/models/user.js</vt:lpstr>
      <vt:lpstr>routes/user.js</vt:lpstr>
      <vt:lpstr>controllers/user.js</vt:lpstr>
      <vt:lpstr>db/operations/user.js</vt:lpstr>
      <vt:lpstr>index.js</vt:lpstr>
      <vt:lpstr>Middleware</vt:lpstr>
      <vt:lpstr>run server</vt:lpstr>
      <vt:lpstr>Rest Routes</vt:lpstr>
      <vt:lpstr>Pass Parameter as body to api</vt:lpstr>
      <vt:lpstr>Pass Parameter as body to api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</dc:title>
  <dc:creator>Administrator</dc:creator>
  <cp:lastModifiedBy>dell</cp:lastModifiedBy>
  <cp:revision>40</cp:revision>
  <dcterms:created xsi:type="dcterms:W3CDTF">2012-07-03T07:32:00Z</dcterms:created>
  <dcterms:modified xsi:type="dcterms:W3CDTF">2025-12-23T09:30:41Z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0A5580872E0B43299461F3A7A9F851E0_12</vt:lpwstr>
  </property>
  <property fmtid="{D5CDD505-2E9C-101B-9397-08002B2CF9AE}" pid="3" name="KSOProductBuildVer">
    <vt:lpwstr>1033-12.2.0.23155</vt:lpwstr>
  </property>
</Properties>
</file>