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4.xml" ContentType="application/vnd.openxmlformats-officedocument.theme+xml"/>
  <Override PartName="/ppt/slideLayouts/slideLayout22.xml" ContentType="application/vnd.openxmlformats-officedocument.presentationml.slideLayout+xml"/>
  <Override PartName="/ppt/theme/theme15.xml" ContentType="application/vnd.openxmlformats-officedocument.theme+xml"/>
  <Override PartName="/ppt/slideLayouts/slideLayout23.xml" ContentType="application/vnd.openxmlformats-officedocument.presentationml.slideLayout+xml"/>
  <Override PartName="/ppt/theme/theme16.xml" ContentType="application/vnd.openxmlformats-officedocument.theme+xml"/>
  <Override PartName="/ppt/slideLayouts/slideLayout24.xml" ContentType="application/vnd.openxmlformats-officedocument.presentationml.slideLayout+xml"/>
  <Override PartName="/ppt/theme/theme17.xml" ContentType="application/vnd.openxmlformats-officedocument.theme+xml"/>
  <Override PartName="/ppt/slideLayouts/slideLayout25.xml" ContentType="application/vnd.openxmlformats-officedocument.presentationml.slideLayout+xml"/>
  <Override PartName="/ppt/theme/theme18.xml" ContentType="application/vnd.openxmlformats-officedocument.theme+xml"/>
  <Override PartName="/ppt/slideLayouts/slideLayout26.xml" ContentType="application/vnd.openxmlformats-officedocument.presentationml.slideLayout+xml"/>
  <Override PartName="/ppt/theme/theme19.xml" ContentType="application/vnd.openxmlformats-officedocument.theme+xml"/>
  <Override PartName="/ppt/slideLayouts/slideLayout27.xml" ContentType="application/vnd.openxmlformats-officedocument.presentationml.slideLayout+xml"/>
  <Override PartName="/ppt/theme/theme20.xml" ContentType="application/vnd.openxmlformats-officedocument.theme+xml"/>
  <Override PartName="/ppt/slideLayouts/slideLayout28.xml" ContentType="application/vnd.openxmlformats-officedocument.presentationml.slideLayout+xml"/>
  <Override PartName="/ppt/theme/theme21.xml" ContentType="application/vnd.openxmlformats-officedocument.theme+xml"/>
  <Override PartName="/ppt/slideLayouts/slideLayout29.xml" ContentType="application/vnd.openxmlformats-officedocument.presentationml.slideLayout+xml"/>
  <Override PartName="/ppt/theme/theme22.xml" ContentType="application/vnd.openxmlformats-officedocument.theme+xml"/>
  <Override PartName="/ppt/slideLayouts/slideLayout30.xml" ContentType="application/vnd.openxmlformats-officedocument.presentationml.slideLayout+xml"/>
  <Override PartName="/ppt/theme/theme23.xml" ContentType="application/vnd.openxmlformats-officedocument.theme+xml"/>
  <Override PartName="/ppt/slideLayouts/slideLayout31.xml" ContentType="application/vnd.openxmlformats-officedocument.presentationml.slideLayout+xml"/>
  <Override PartName="/ppt/theme/theme24.xml" ContentType="application/vnd.openxmlformats-officedocument.theme+xml"/>
  <Override PartName="/ppt/theme/theme2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83" r:id="rId15"/>
    <p:sldMasterId id="2147483685" r:id="rId16"/>
    <p:sldMasterId id="2147483687" r:id="rId17"/>
    <p:sldMasterId id="2147483689" r:id="rId18"/>
    <p:sldMasterId id="2147483691" r:id="rId19"/>
    <p:sldMasterId id="2147483693" r:id="rId20"/>
    <p:sldMasterId id="2147483695" r:id="rId21"/>
    <p:sldMasterId id="2147483697" r:id="rId22"/>
    <p:sldMasterId id="2147483699" r:id="rId23"/>
    <p:sldMasterId id="2147483701" r:id="rId24"/>
  </p:sldMasterIdLst>
  <p:notesMasterIdLst>
    <p:notesMasterId r:id="rId45"/>
  </p:notes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0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2.xml"/><Relationship Id="rId39" Type="http://schemas.openxmlformats.org/officeDocument/2006/relationships/slide" Target="slides/slide15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0.xml"/><Relationship Id="rId42" Type="http://schemas.openxmlformats.org/officeDocument/2006/relationships/slide" Target="slides/slide18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5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8.xml"/><Relationship Id="rId37" Type="http://schemas.openxmlformats.org/officeDocument/2006/relationships/slide" Target="slides/slide13.xml"/><Relationship Id="rId40" Type="http://schemas.openxmlformats.org/officeDocument/2006/relationships/slide" Target="slides/slide16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4.xml"/><Relationship Id="rId36" Type="http://schemas.openxmlformats.org/officeDocument/2006/relationships/slide" Target="slides/slide12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7.xml"/><Relationship Id="rId44" Type="http://schemas.openxmlformats.org/officeDocument/2006/relationships/slide" Target="slides/slide2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3.xml"/><Relationship Id="rId30" Type="http://schemas.openxmlformats.org/officeDocument/2006/relationships/slide" Target="slides/slide6.xml"/><Relationship Id="rId35" Type="http://schemas.openxmlformats.org/officeDocument/2006/relationships/slide" Target="slides/slide11.xml"/><Relationship Id="rId43" Type="http://schemas.openxmlformats.org/officeDocument/2006/relationships/slide" Target="slides/slide19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1.xml"/><Relationship Id="rId33" Type="http://schemas.openxmlformats.org/officeDocument/2006/relationships/slide" Target="slides/slide9.xml"/><Relationship Id="rId38" Type="http://schemas.openxmlformats.org/officeDocument/2006/relationships/slide" Target="slides/slide14.xml"/><Relationship Id="rId46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</a:p>
        </p:txBody>
      </p:sp>
      <p:sp>
        <p:nvSpPr>
          <p:cNvPr id="2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88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89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90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8C5E406-95C3-4899-85FB-CC2190EFCE48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225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3A2B097-3444-4780-B70C-B3CA9F6C432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15456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77B8EB9-A82D-4881-8BE0-04BD7C5EDDA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3176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DF1BDB-AF83-4D23-8B91-6D8BB836162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4147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39CFE1-9114-4F98-B6C5-3813AEDBC4F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5551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CC996F-4B57-4BD4-BB4A-3A640256D23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6885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31BB29E-067B-4B87-9B3D-9DFFF765DC68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7506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F2543F7-D7A3-4141-BA90-1DEF3199E3C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7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33165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F02250-0159-4390-B26A-9FAFE16F80C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8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055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9050F8-ADE1-4B59-8768-B7533B0C3E2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9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1540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704CB8D-325E-47C8-ACAD-6DD35DE9045F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10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0596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9F56C05-8B36-43D1-A6DD-38E36325070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43258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7EA8821-2E5C-405E-A030-6EFEC4377844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61898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D3B3D90-B18A-4A0E-B5DE-FC0231BA00DE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0320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216408-76EE-4D96-B756-D4006CCC6D1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70277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FF4298-6422-4142-B3B8-33EAC4BABF8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3582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4C7F9C3-2284-42A9-852B-D16556E8A24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8858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4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5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6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7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8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9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30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7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ftr" idx="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dt" idx="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7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ftr" idx="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dt" idx="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7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ftr" idx="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dt" idx="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7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Google Shape;85;p13"/>
          <p:cNvSpPr/>
          <p:nvPr/>
        </p:nvSpPr>
        <p:spPr>
          <a:xfrm>
            <a:off x="673920" y="971280"/>
            <a:ext cx="60084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/>
                <a:ea typeface="Arial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Google Shape;86;p13"/>
          <p:cNvSpPr/>
          <p:nvPr/>
        </p:nvSpPr>
        <p:spPr>
          <a:xfrm>
            <a:off x="6999840" y="2613960"/>
            <a:ext cx="60084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/>
                <a:ea typeface="Arial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ftr" idx="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8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9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ftr" idx="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dt" idx="1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8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59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0" name="Google Shape;100;p15"/>
          <p:cNvCxnSpPr/>
          <p:nvPr/>
        </p:nvCxnSpPr>
        <p:spPr>
          <a:xfrm>
            <a:off x="2795040" y="2133360"/>
            <a:ext cx="720" cy="396324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61" name="Google Shape;101;p15"/>
          <p:cNvCxnSpPr/>
          <p:nvPr/>
        </p:nvCxnSpPr>
        <p:spPr>
          <a:xfrm>
            <a:off x="5222880" y="2133360"/>
            <a:ext cx="720" cy="396756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ftr" idx="1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dt" idx="1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71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2" name="Google Shape;115;p16"/>
          <p:cNvCxnSpPr/>
          <p:nvPr/>
        </p:nvCxnSpPr>
        <p:spPr>
          <a:xfrm>
            <a:off x="2795040" y="2133360"/>
            <a:ext cx="720" cy="396324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73" name="Google Shape;116;p16"/>
          <p:cNvCxnSpPr/>
          <p:nvPr/>
        </p:nvCxnSpPr>
        <p:spPr>
          <a:xfrm>
            <a:off x="5222880" y="2133360"/>
            <a:ext cx="720" cy="396756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74" name="PlaceHolder 1"/>
          <p:cNvSpPr>
            <a:spLocks noGrp="1"/>
          </p:cNvSpPr>
          <p:nvPr>
            <p:ph type="ftr" idx="1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dt" idx="1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83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ftr" idx="1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dt" idx="1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93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ftr" idx="1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dt" idx="1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0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03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ftr" idx="1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06" name="PlaceHolder 3"/>
          <p:cNvSpPr>
            <a:spLocks noGrp="1"/>
          </p:cNvSpPr>
          <p:nvPr>
            <p:ph type="dt" idx="2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17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0" name="PlaceHolder 3"/>
          <p:cNvSpPr>
            <a:spLocks noGrp="1"/>
          </p:cNvSpPr>
          <p:nvPr>
            <p:ph type="ftr" idx="2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21" name="PlaceHolder 4"/>
          <p:cNvSpPr>
            <a:spLocks noGrp="1"/>
          </p:cNvSpPr>
          <p:nvPr>
            <p:ph type="dt" idx="2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31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26672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5" name="PlaceHolder 4"/>
          <p:cNvSpPr>
            <a:spLocks noGrp="1"/>
          </p:cNvSpPr>
          <p:nvPr>
            <p:ph type="ftr" idx="2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36" name="PlaceHolder 5"/>
          <p:cNvSpPr>
            <a:spLocks noGrp="1"/>
          </p:cNvSpPr>
          <p:nvPr>
            <p:ph type="dt" idx="2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47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9" name="PlaceHolder 2"/>
          <p:cNvSpPr>
            <a:spLocks noGrp="1"/>
          </p:cNvSpPr>
          <p:nvPr>
            <p:ph type="ftr" idx="2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50" name="PlaceHolder 3"/>
          <p:cNvSpPr>
            <a:spLocks noGrp="1"/>
          </p:cNvSpPr>
          <p:nvPr>
            <p:ph type="dt" idx="2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8" name="Google Shape;18;p1"/>
          <p:cNvPicPr/>
          <p:nvPr/>
        </p:nvPicPr>
        <p:blipFill>
          <a:blip r:embed="rId10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59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2" name="PlaceHolder 3"/>
          <p:cNvSpPr>
            <a:spLocks noGrp="1"/>
          </p:cNvSpPr>
          <p:nvPr>
            <p:ph type="ftr" idx="2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63" name="PlaceHolder 4"/>
          <p:cNvSpPr>
            <a:spLocks noGrp="1"/>
          </p:cNvSpPr>
          <p:nvPr>
            <p:ph type="dt" idx="2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81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ftr" idx="2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83" name="PlaceHolder 2"/>
          <p:cNvSpPr>
            <a:spLocks noGrp="1"/>
          </p:cNvSpPr>
          <p:nvPr>
            <p:ph type="dt" idx="3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91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ftr" idx="3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93" name="PlaceHolder 2"/>
          <p:cNvSpPr>
            <a:spLocks noGrp="1"/>
          </p:cNvSpPr>
          <p:nvPr>
            <p:ph type="dt" idx="3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0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01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ftr" idx="3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03" name="PlaceHolder 2"/>
          <p:cNvSpPr>
            <a:spLocks noGrp="1"/>
          </p:cNvSpPr>
          <p:nvPr>
            <p:ph type="dt" idx="3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1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11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3" name="PlaceHolder 2"/>
          <p:cNvSpPr>
            <a:spLocks noGrp="1"/>
          </p:cNvSpPr>
          <p:nvPr>
            <p:ph type="ftr" idx="3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14" name="PlaceHolder 3"/>
          <p:cNvSpPr>
            <a:spLocks noGrp="1"/>
          </p:cNvSpPr>
          <p:nvPr>
            <p:ph type="dt" idx="3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23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24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ftr" idx="3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26" name="PlaceHolder 2"/>
          <p:cNvSpPr>
            <a:spLocks noGrp="1"/>
          </p:cNvSpPr>
          <p:nvPr>
            <p:ph type="dt" idx="3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3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34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37" name="PlaceHolder 3"/>
          <p:cNvSpPr>
            <a:spLocks noGrp="1"/>
          </p:cNvSpPr>
          <p:nvPr>
            <p:ph type="body"/>
          </p:nvPr>
        </p:nvSpPr>
        <p:spPr>
          <a:xfrm>
            <a:off x="4266720" y="2053080"/>
            <a:ext cx="3274560" cy="4194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38" name="PlaceHolder 4"/>
          <p:cNvSpPr>
            <a:spLocks noGrp="1"/>
          </p:cNvSpPr>
          <p:nvPr>
            <p:ph type="ftr" idx="39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39" name="PlaceHolder 5"/>
          <p:cNvSpPr>
            <a:spLocks noGrp="1"/>
          </p:cNvSpPr>
          <p:nvPr>
            <p:ph type="dt" idx="40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49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50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ftr" idx="41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2" name="PlaceHolder 2"/>
          <p:cNvSpPr>
            <a:spLocks noGrp="1"/>
          </p:cNvSpPr>
          <p:nvPr>
            <p:ph type="dt" idx="42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9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60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2" name="PlaceHolder 2"/>
          <p:cNvSpPr>
            <a:spLocks noGrp="1"/>
          </p:cNvSpPr>
          <p:nvPr>
            <p:ph type="ftr" idx="43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63" name="PlaceHolder 3"/>
          <p:cNvSpPr>
            <a:spLocks noGrp="1"/>
          </p:cNvSpPr>
          <p:nvPr>
            <p:ph type="dt" idx="44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6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1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72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ftr" idx="45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74" name="PlaceHolder 2"/>
          <p:cNvSpPr>
            <a:spLocks noGrp="1"/>
          </p:cNvSpPr>
          <p:nvPr>
            <p:ph type="dt" idx="46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10;p1"/>
          <p:cNvSpPr/>
          <p:nvPr/>
        </p:nvSpPr>
        <p:spPr>
          <a:xfrm>
            <a:off x="629928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Google Shape;11;p1"/>
          <p:cNvSpPr/>
          <p:nvPr/>
        </p:nvSpPr>
        <p:spPr>
          <a:xfrm>
            <a:off x="5689800" y="-457200"/>
            <a:ext cx="1599480" cy="159948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Google Shape;12;p1"/>
          <p:cNvSpPr/>
          <p:nvPr/>
        </p:nvSpPr>
        <p:spPr>
          <a:xfrm>
            <a:off x="6299280" y="6095880"/>
            <a:ext cx="990000" cy="99000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Google Shape;13;p1"/>
          <p:cNvSpPr/>
          <p:nvPr/>
        </p:nvSpPr>
        <p:spPr>
          <a:xfrm>
            <a:off x="-154080" y="2666880"/>
            <a:ext cx="4190400" cy="419040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Google Shape;14;p1"/>
          <p:cNvSpPr/>
          <p:nvPr/>
        </p:nvSpPr>
        <p:spPr>
          <a:xfrm>
            <a:off x="-839880" y="2895480"/>
            <a:ext cx="2361600" cy="236160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Google Shape;15;p1"/>
          <p:cNvSpPr/>
          <p:nvPr/>
        </p:nvSpPr>
        <p:spPr>
          <a:xfrm>
            <a:off x="7745760" y="0"/>
            <a:ext cx="685080" cy="109872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1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600" cy="92160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82" name="Google Shape;19;p1"/>
          <p:cNvSpPr/>
          <p:nvPr/>
        </p:nvSpPr>
        <p:spPr>
          <a:xfrm>
            <a:off x="12600" y="6248520"/>
            <a:ext cx="9118080" cy="60876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ftr" idx="47"/>
          </p:nvPr>
        </p:nvSpPr>
        <p:spPr>
          <a:xfrm rot="5400000">
            <a:off x="6233760" y="3263400"/>
            <a:ext cx="38592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84" name="PlaceHolder 2"/>
          <p:cNvSpPr>
            <a:spLocks noGrp="1"/>
          </p:cNvSpPr>
          <p:nvPr>
            <p:ph type="dt" idx="48"/>
          </p:nvPr>
        </p:nvSpPr>
        <p:spPr>
          <a:xfrm rot="5400000">
            <a:off x="7495560" y="1828800"/>
            <a:ext cx="990000" cy="227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script.info" TargetMode="External"/><Relationship Id="rId2" Type="http://schemas.openxmlformats.org/officeDocument/2006/relationships/hyperlink" Target="https://developer.mozilla.org/en-US/docs/Web/JavaScript" TargetMode="Externa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800280" y="1276200"/>
            <a:ext cx="7771680" cy="182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44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4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dk2"/>
                </a:solidFill>
                <a:uFillTx/>
                <a:latin typeface="Arial"/>
                <a:ea typeface="Arial"/>
              </a:rPr>
              <a:t>JavaScript</a:t>
            </a:r>
            <a:endParaRPr lang="en-US" sz="4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92" name="Google Shape;135;p19"/>
          <p:cNvPicPr/>
          <p:nvPr/>
        </p:nvPicPr>
        <p:blipFill>
          <a:blip r:embed="rId3"/>
          <a:srcRect t="50052"/>
          <a:stretch/>
        </p:blipFill>
        <p:spPr>
          <a:xfrm>
            <a:off x="1066680" y="3362400"/>
            <a:ext cx="7622280" cy="1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Google Shape;136;p19"/>
          <p:cNvSpPr/>
          <p:nvPr/>
        </p:nvSpPr>
        <p:spPr>
          <a:xfrm>
            <a:off x="2819520" y="5334120"/>
            <a:ext cx="7054560" cy="9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4" name="Google Shape;137;p19"/>
          <p:cNvSpPr/>
          <p:nvPr/>
        </p:nvSpPr>
        <p:spPr>
          <a:xfrm>
            <a:off x="3186360" y="3753000"/>
            <a:ext cx="299916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35960" y="9864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JS Control Statements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68880" y="965160"/>
            <a:ext cx="430920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If-else Statements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:</a:t>
            </a:r>
            <a:r>
              <a:rPr sz="2400"/>
              <a:t/>
            </a:r>
            <a:br>
              <a:rPr sz="2400"/>
            </a:b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if (age &gt; 18) {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console.log("You are an adult.");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 else {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console.log("You are a minor.");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Loops</a:t>
            </a:r>
            <a:r>
              <a:rPr lang="en-US" sz="24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:</a:t>
            </a:r>
            <a:r>
              <a:rPr sz="2400"/>
              <a:t/>
            </a:r>
            <a:br>
              <a:rPr sz="2400"/>
            </a:b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for (let i = 0; i &lt; 5; i++) {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  console.log(i);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}</a:t>
            </a: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7" name="Google Shape;145;p20"/>
          <p:cNvSpPr/>
          <p:nvPr/>
        </p:nvSpPr>
        <p:spPr>
          <a:xfrm>
            <a:off x="5100840" y="683280"/>
            <a:ext cx="3587040" cy="601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Switch Case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let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x = </a:t>
            </a:r>
            <a:r>
              <a:rPr lang="en-US" sz="22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"0"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switch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(x) {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case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0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: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  text = </a:t>
            </a:r>
            <a:r>
              <a:rPr lang="en-US" sz="22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"Off"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 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break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case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</a:t>
            </a:r>
            <a:r>
              <a:rPr lang="en-US" sz="22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1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: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	text = </a:t>
            </a:r>
            <a:r>
              <a:rPr lang="en-US" sz="22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"On"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 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break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</a:t>
            </a: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default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: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  text = </a:t>
            </a:r>
            <a:r>
              <a:rPr lang="en-US" sz="22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"No value found"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}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JS Loops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828360" y="141840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for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(</a:t>
            </a:r>
            <a:r>
              <a:rPr lang="en-US" sz="2200" b="0" i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expression 1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;</a:t>
            </a:r>
            <a:r>
              <a:rPr lang="en-US" sz="2200" b="0" i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expression 2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;</a:t>
            </a:r>
            <a:r>
              <a:rPr lang="en-US" sz="2200" b="0" i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expression 3</a:t>
            </a: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) {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 </a:t>
            </a:r>
            <a:r>
              <a:rPr lang="en-US" sz="2200" b="0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// </a:t>
            </a:r>
            <a:r>
              <a:rPr lang="en-US" sz="2200" b="0" i="1" u="none" strike="noStrike">
                <a:solidFill>
                  <a:srgbClr val="008000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code block to be executed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}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Expression 1 is executed (one time) before the execution of the code block.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Expression 2 defines the condition for executing the code block.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Expression 3 is executed (every time) after the code block has been executed.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JS Loops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const cars = ["BMW", "Volvo", "Saab", "Ford"];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let len = cars.length;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let text = "";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for (let i=0; i &lt; len; i++) {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text += cars[i] + "&lt;br&gt;";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}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BMW Volvo Saab Ford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DOM Manipulation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779040" y="1331280"/>
            <a:ext cx="836460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What is the DOM?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Document Object Model: JavaScript interacts with HTML elements through it.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Example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:</a:t>
            </a:r>
            <a:r>
              <a:rPr sz="2000"/>
              <a:t/>
            </a:r>
            <a:br>
              <a:rPr sz="2000"/>
            </a:br>
            <a:r>
              <a:rPr lang="en-US" sz="2000" b="0" u="none" strike="noStrike">
                <a:solidFill>
                  <a:srgbClr val="188038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document.getElementById("myElement").innerText = "Hello, World!";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Common Methods: 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20040">
              <a:lnSpc>
                <a:spcPct val="100000"/>
              </a:lnSpc>
              <a:spcBef>
                <a:spcPts val="1001"/>
              </a:spcBef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getElementById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2004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getElementsByClassName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2004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getElementsByName,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2004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querySelector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2004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querySelectorAll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2004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  <a:tabLst>
                <a:tab pos="0" algn="l"/>
              </a:tabLst>
            </a:pPr>
            <a:r>
              <a:rPr lang="en-US" sz="2000" b="0" u="none" strike="noStrike">
                <a:solidFill>
                  <a:srgbClr val="188038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addEventListener.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DOM Manipulation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0" y="1331280"/>
            <a:ext cx="914328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29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&lt;input id="demo" class="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example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" name="animal" type="checkbox" value="Cats"&gt;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29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document.getElementById(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"demo"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).style.color = 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"red"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2999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num = 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document.getElementsByClassName(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"example"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).length;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2999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let num = document.getElementsByName("animal").length;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document.querySelector(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"input"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); //return first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document.querySelectorAll(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".example"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 Mono"/>
                <a:ea typeface="Roboto Mono"/>
              </a:rPr>
              <a:t>); //return all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114480"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114480"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JS Events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What are Events?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Events represent user interactions (clicks, typing, mouse movements, etc.)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Events can be triggered by the user or programmatically.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JavaScript provides a way to handle these events and respond to them.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When an event occurs, browser creates an event object, which contains information about event type, i.e. click event, and information about the element on which the event occurred, etc.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435960" y="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JS Events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-30600" y="991440"/>
            <a:ext cx="9204120" cy="456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/>
                <a:ea typeface="Verdana"/>
              </a:rPr>
              <a:t>An HTML event can be something the browser does, or something a user does.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/>
                <a:ea typeface="Verdana"/>
              </a:rPr>
              <a:t>Here are some examples of HTML events: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400"/>
              </a:spcBef>
              <a:buClr>
                <a:srgbClr val="000000"/>
              </a:buClr>
              <a:buFont typeface="Verdana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/>
                <a:ea typeface="Verdana"/>
              </a:rPr>
              <a:t>An HTML web page has finished loading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00"/>
              </a:buClr>
              <a:buFont typeface="Verdana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/>
                <a:ea typeface="Verdana"/>
              </a:rPr>
              <a:t>An HTML input field was changed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00"/>
              </a:buClr>
              <a:buFont typeface="Verdana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/>
                <a:ea typeface="Verdana"/>
              </a:rPr>
              <a:t>An HTML button was clicked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USES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Verdana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&lt;</a:t>
            </a:r>
            <a:r>
              <a:rPr lang="en-US" sz="2000" b="0" i="1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element</a:t>
            </a:r>
            <a:r>
              <a:rPr lang="en-US" sz="20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</a:t>
            </a:r>
            <a:r>
              <a:rPr lang="en-US" sz="2000" b="0" i="1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event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='</a:t>
            </a:r>
            <a:r>
              <a:rPr lang="en-US" sz="2000" b="0" i="1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some JavaScript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'&gt;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CD"/>
              </a:buClr>
              <a:buFont typeface="Consolas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&lt;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button</a:t>
            </a:r>
            <a:r>
              <a:rPr lang="en-US" sz="20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onclick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="document.getElementById('demo').innerHTML = Date()"&gt;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The time is?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&lt;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/button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&gt;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CD"/>
              </a:buClr>
              <a:buFont typeface="Consolas"/>
              <a:buChar char="●"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&lt;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button</a:t>
            </a:r>
            <a:r>
              <a:rPr lang="en-US" sz="2000" b="0" u="none" strike="noStrike">
                <a:solidFill>
                  <a:srgbClr val="FF0000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onclick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="displayAlert()"&gt;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The time is?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&lt;</a:t>
            </a:r>
            <a:r>
              <a:rPr lang="en-US" sz="2000" b="0" u="none" strike="noStrike">
                <a:solidFill>
                  <a:srgbClr val="A52A2A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/button</a:t>
            </a:r>
            <a:r>
              <a:rPr lang="en-US" sz="2000" b="0" u="none" strike="noStrike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&gt;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29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9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Handlers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1" name="Google Shape;201;p28"/>
          <p:cNvSpPr/>
          <p:nvPr/>
        </p:nvSpPr>
        <p:spPr>
          <a:xfrm>
            <a:off x="313560" y="630000"/>
            <a:ext cx="8829720" cy="629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&lt;html&gt;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&lt;head&gt;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&lt;script&gt;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function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onButtonClick(event) 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alert("Button was clicked!");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function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onDivClick(event){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	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if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(event.target.id==="child") 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 indent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		alert("Child was clicked."); 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 indent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	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else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 indent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1371600" indent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alert("Parent was clicked.");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13716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&lt;/script&gt;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&lt;/head&gt;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&lt;body&gt;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&lt;div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</a:t>
            </a:r>
            <a:r>
              <a:rPr lang="en-US" sz="1600" b="0" u="none" strike="noStrike">
                <a:solidFill>
                  <a:srgbClr val="0000CC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onclick=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"onDivClick(event)" </a:t>
            </a:r>
            <a:r>
              <a:rPr lang="en-US" sz="1600" b="0" u="none" strike="noStrike">
                <a:solidFill>
                  <a:srgbClr val="0000CC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style=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"background-color:red"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&lt;h1&gt;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Event Handling in HTML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&lt;/h1&gt;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&lt;button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</a:t>
            </a:r>
            <a:r>
              <a:rPr lang="en-US" sz="1600" b="0" u="none" strike="noStrike">
                <a:solidFill>
                  <a:srgbClr val="0000CC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id=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"child" </a:t>
            </a:r>
            <a:r>
              <a:rPr lang="en-US" sz="1600" b="0" u="none" strike="noStrike">
                <a:solidFill>
                  <a:srgbClr val="0000CC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onclick=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"onButtonClick(event)"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&gt;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Click Me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&lt;/button&gt;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&lt;/div&gt;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&lt;/body&gt;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&lt;/html&gt;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207;p29"/>
          <p:cNvSpPr/>
          <p:nvPr/>
        </p:nvSpPr>
        <p:spPr>
          <a:xfrm>
            <a:off x="303840" y="23400"/>
            <a:ext cx="8535960" cy="714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&lt;html&gt;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&lt;head&gt;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&lt;script&gt;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function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onButtonClick(event) 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alert("Button was clicked!");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function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onDivClick(event){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if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(event.target.id === "child")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  alert("Child was clicked.");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else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  alert("Parent was clicked.");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const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div = </a:t>
            </a:r>
            <a:r>
              <a:rPr lang="en-US" sz="1600" b="0" u="none" strike="noStrike">
                <a:solidFill>
                  <a:srgbClr val="00702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document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.querySelector('div');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</a:t>
            </a:r>
            <a:r>
              <a:rPr lang="en-US" sz="1600" b="1" u="none" strike="noStrike">
                <a:solidFill>
                  <a:srgbClr val="0088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const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button = </a:t>
            </a:r>
            <a:r>
              <a:rPr lang="en-US" sz="1600" b="0" u="none" strike="noStrike">
                <a:solidFill>
                  <a:srgbClr val="00702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document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.getElementById('child');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div.addEventListener("click", onDivClick); 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  button.addEventListener("click", onButtonClick); 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&lt;/script&gt;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&lt;/head&gt;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&lt;body&gt;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&lt;div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</a:t>
            </a:r>
            <a:r>
              <a:rPr lang="en-US" sz="1600" b="0" u="none" strike="noStrike">
                <a:solidFill>
                  <a:srgbClr val="0000CC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style=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"background-color:red"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13716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&lt;h1&gt;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Event Handling in HTML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&lt;/h1&gt;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13716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&lt;button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</a:t>
            </a:r>
            <a:r>
              <a:rPr lang="en-US" sz="1600" b="0" u="none" strike="noStrike">
                <a:solidFill>
                  <a:srgbClr val="0000CC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id=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"child"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&gt;</a:t>
            </a: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Click Me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&lt;/button&gt;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333333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  </a:t>
            </a: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&lt;/div&gt;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&lt;/body&gt;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007700"/>
                </a:solidFill>
                <a:highlight>
                  <a:srgbClr val="D6E4F5"/>
                </a:highlight>
                <a:uFillTx/>
                <a:latin typeface="Arial"/>
                <a:ea typeface="Arial"/>
              </a:rPr>
              <a:t>&lt;/html&gt;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435960" y="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JS Events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14" name="Google Shape;215;p30"/>
          <p:cNvPicPr/>
          <p:nvPr/>
        </p:nvPicPr>
        <p:blipFill>
          <a:blip r:embed="rId3"/>
          <a:stretch/>
        </p:blipFill>
        <p:spPr>
          <a:xfrm>
            <a:off x="0" y="991440"/>
            <a:ext cx="9143280" cy="329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Google Shape;216;p30"/>
          <p:cNvSpPr/>
          <p:nvPr/>
        </p:nvSpPr>
        <p:spPr>
          <a:xfrm>
            <a:off x="158760" y="6242400"/>
            <a:ext cx="6991560" cy="39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lt1"/>
                </a:solidFill>
                <a:uFillTx/>
                <a:latin typeface="Arial"/>
                <a:ea typeface="Arial"/>
              </a:rPr>
              <a:t>https://www.w3schools.com/js/js_events.asp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 Prevent Default Action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656640" y="11134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event.preventDefault()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is used to </a:t>
            </a:r>
            <a:r>
              <a:rPr lang="en-US" sz="17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prevent the default browser action</a:t>
            </a:r>
            <a:r>
              <a:rPr lang="en-US" sz="17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associated with the event from occurring. It doesn’t stop the event propagation; it only prevents the browser's default behavior from happening.</a:t>
            </a:r>
            <a:endParaRPr lang="en-US" sz="17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7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8" name="Google Shape;224;p31"/>
          <p:cNvSpPr/>
          <p:nvPr/>
        </p:nvSpPr>
        <p:spPr>
          <a:xfrm>
            <a:off x="865080" y="2284200"/>
            <a:ext cx="8139960" cy="380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&lt;a href="https://www.example.com" id="myLink"&gt;Click me (but I won't navigate!)&lt;/a&gt;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&lt;script&gt;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  document.getElementById("myLink").addEventListener("click", function(event) {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      event.preventDefault(); // Prevents the link from navigating to the URL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      console.log("Link navigation prevented!");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  });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&lt;/script&gt;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3920" y="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OnLoad Event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304920" y="1400400"/>
            <a:ext cx="8457480" cy="484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ourier New"/>
                <a:ea typeface="Courier New"/>
              </a:rPr>
              <a:t>window.onload = writeMessage;</a:t>
            </a:r>
            <a:endParaRPr lang="en-US" sz="2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-20052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ourier New"/>
                <a:ea typeface="Courier New"/>
              </a:rPr>
              <a:t>function writeMessage()</a:t>
            </a:r>
            <a:endParaRPr lang="en-US" sz="2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ourier New"/>
                <a:ea typeface="Courier New"/>
              </a:rPr>
              <a:t>{</a:t>
            </a:r>
            <a:endParaRPr lang="en-US" sz="2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ourier New"/>
                <a:ea typeface="Courier New"/>
              </a:rPr>
              <a:t>document.getElementById(“hMsg”).innerHTML = “Hello World!!”;</a:t>
            </a:r>
            <a:endParaRPr lang="en-US" sz="2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343080"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ourier New"/>
                <a:ea typeface="Courier New"/>
              </a:rPr>
              <a:t>}</a:t>
            </a:r>
            <a:endParaRPr lang="en-US" sz="2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This keyword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"/>
                <a:ea typeface="Roboto"/>
              </a:rPr>
              <a:t>this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keyword refers to the current execution context, or the object on which a method was called.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It can change depending on where it is used: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In a function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: Refers to the global object (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"/>
                <a:ea typeface="Roboto"/>
              </a:rPr>
              <a:t>window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in browsers).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In a method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: Refers to the object the method belongs to.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In an arrow function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: Refers to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"/>
                <a:ea typeface="Roboto"/>
              </a:rPr>
              <a:t>this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value from the surrounding context (lexical scoping).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97560" y="0"/>
            <a:ext cx="7441560" cy="185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This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0" y="1162080"/>
            <a:ext cx="929808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function showThis() {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console.log(this.location); </a:t>
            </a:r>
            <a:r>
              <a:rPr lang="en-US" sz="1800" b="0" u="none" strike="noStrike">
                <a:solidFill>
                  <a:srgbClr val="008000"/>
                </a:solidFill>
                <a:uFillTx/>
                <a:latin typeface="Roboto"/>
                <a:ea typeface="Roboto"/>
              </a:rPr>
              <a:t>// In a function, `this` refers to the global object (window)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}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const person = {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name: 'Alice',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greet: function() {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  console.log(this.name); </a:t>
            </a:r>
            <a:r>
              <a:rPr lang="en-US" sz="1800" b="0" u="none" strike="noStrike">
                <a:solidFill>
                  <a:srgbClr val="188038"/>
                </a:solidFill>
                <a:uFillTx/>
                <a:latin typeface="Roboto"/>
                <a:ea typeface="Roboto"/>
              </a:rPr>
              <a:t>// In a method, `this` refers to the object (person).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}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};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showThis();  </a:t>
            </a:r>
            <a:r>
              <a:rPr lang="en-US" sz="1800" b="0" u="none" strike="noStrike">
                <a:solidFill>
                  <a:srgbClr val="008000"/>
                </a:solidFill>
                <a:uFillTx/>
                <a:latin typeface="Roboto"/>
                <a:ea typeface="Roboto"/>
              </a:rPr>
              <a:t>// Global object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person.greet();  </a:t>
            </a:r>
            <a:r>
              <a:rPr lang="en-US" sz="1800" b="0" u="none" strike="noStrike">
                <a:solidFill>
                  <a:srgbClr val="008000"/>
                </a:solidFill>
                <a:uFillTx/>
                <a:latin typeface="Roboto"/>
                <a:ea typeface="Roboto"/>
              </a:rPr>
              <a:t>// 'Alice'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97560" y="0"/>
            <a:ext cx="7441560" cy="185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This in event handling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/>
          </p:nvPr>
        </p:nvSpPr>
        <p:spPr>
          <a:xfrm>
            <a:off x="0" y="1162080"/>
            <a:ext cx="929808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In an event listener,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"this"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refers to the element on which the event listener is attached.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&lt;button id="myButton"&gt;JavaScript Functions&lt;/button&gt;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&lt;script&gt;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const button = document.querySelector('button');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button.addEventListener('click', function() {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  alert(this.id); // "this" refers to the button element id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  });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&lt;/script&gt;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&lt;/html&gt;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326"/>
          <p:cNvSpPr/>
          <p:nvPr/>
        </p:nvSpPr>
        <p:spPr>
          <a:xfrm>
            <a:off x="171000" y="228600"/>
            <a:ext cx="8515440" cy="623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class Person 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constructor(name, age) 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    this.name = name;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    this.age = age;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greet() 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    console.log(`Hello, my name is ${this.name} and I am ${this.age} years old.`);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static sayHello() 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    console.log("Hello from the Person class!");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const person1 = new Person('Alice', 30);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person1.greet(); // "Hello, my name is Alice and I am 30 years old."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Person.sayHello(); // "Hello from the Person class!"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327"/>
          <p:cNvSpPr/>
          <p:nvPr/>
        </p:nvSpPr>
        <p:spPr>
          <a:xfrm>
            <a:off x="228600" y="1310040"/>
            <a:ext cx="8515440" cy="623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class Student{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#name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constructor(){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    this.#name='abc';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getName(){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    return this.#name;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}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s=new Student();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uFillTx/>
                <a:latin typeface="Arial"/>
              </a:rPr>
              <a:t>console.log(s.getName())</a:t>
            </a:r>
            <a:endParaRPr lang="en-US" sz="1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9" name="Rectangle 328"/>
          <p:cNvSpPr/>
          <p:nvPr/>
        </p:nvSpPr>
        <p:spPr>
          <a:xfrm>
            <a:off x="345240" y="228600"/>
            <a:ext cx="6512400" cy="128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Private Field in Classes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angle 329"/>
          <p:cNvSpPr/>
          <p:nvPr/>
        </p:nvSpPr>
        <p:spPr>
          <a:xfrm>
            <a:off x="345240" y="228600"/>
            <a:ext cx="6512400" cy="128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Inheritance in Classes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1" name="Rectangle 330"/>
          <p:cNvSpPr/>
          <p:nvPr/>
        </p:nvSpPr>
        <p:spPr>
          <a:xfrm>
            <a:off x="475920" y="914400"/>
            <a:ext cx="8210520" cy="72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class Person {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constructor(name, age) {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this.name = name;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this.age = age;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introduce() {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console.log(`Hi, my name is ${this.name} and I am ${this.age} years old.`);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}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// Child class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class Student extends Person {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constructor(name, age, grade) {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super(name, age); // Call the parent class constructor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this.grade = grade;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study() {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console.log(`${this.name} is studying.`);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// Override the introduce method from the parent class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introduce() {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super.introduce(); // Call the parent method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    console.log(`I am in grade ${this.grade}.`);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    }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Arial"/>
              </a:rPr>
              <a:t>}</a:t>
            </a: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560" cy="139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Resources to Learn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304920" y="1600200"/>
            <a:ext cx="8609760" cy="419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Slide 15: Resources to Learn More</a:t>
            </a:r>
            <a:endParaRPr lang="en-US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938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Websites:</a:t>
            </a:r>
            <a:endParaRPr lang="en-US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 lvl="1" indent="-3938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-US" sz="26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2"/>
              </a:rPr>
              <a:t>MDN Web Docs</a:t>
            </a:r>
            <a:r>
              <a:rPr lang="en-US" sz="26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 lvl="1" indent="-3938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-US" sz="2600" b="0" u="sng" strike="noStrike">
                <a:solidFill>
                  <a:schemeClr val="hlink"/>
                </a:solidFill>
                <a:uFillTx/>
                <a:latin typeface="Arial"/>
                <a:ea typeface="Arial"/>
                <a:hlinkClick r:id="rId3"/>
              </a:rPr>
              <a:t>JavaScript.info</a:t>
            </a:r>
            <a:r>
              <a:rPr lang="en-US" sz="26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938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Platforms:</a:t>
            </a:r>
            <a:endParaRPr lang="en-US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 lvl="1" indent="-3938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FreeCodeCamp, Codecademy, or W3Schools.</a:t>
            </a:r>
            <a:endParaRPr lang="en-US" sz="26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6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1231</Words>
  <Application>Microsoft Office PowerPoint</Application>
  <PresentationFormat>On-screen Show (4:3)</PresentationFormat>
  <Paragraphs>264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24</vt:i4>
      </vt:variant>
      <vt:variant>
        <vt:lpstr>Slide Titles</vt:lpstr>
      </vt:variant>
      <vt:variant>
        <vt:i4>20</vt:i4>
      </vt:variant>
    </vt:vector>
  </HeadingPairs>
  <TitlesOfParts>
    <vt:vector size="56" baseType="lpstr">
      <vt:lpstr>Arial</vt:lpstr>
      <vt:lpstr>Calibri</vt:lpstr>
      <vt:lpstr>Consolas</vt:lpstr>
      <vt:lpstr>Courier New</vt:lpstr>
      <vt:lpstr>DejaVu Sans</vt:lpstr>
      <vt:lpstr>Noto Sans Symbols</vt:lpstr>
      <vt:lpstr>Roboto</vt:lpstr>
      <vt:lpstr>Roboto Mono</vt:lpstr>
      <vt:lpstr>Symbol</vt:lpstr>
      <vt:lpstr>Times New Roman</vt:lpstr>
      <vt:lpstr>Verdana</vt:lpstr>
      <vt:lpstr>Wingdings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  JavaScript</vt:lpstr>
      <vt:lpstr>JS Control Statements</vt:lpstr>
      <vt:lpstr>JS Loops</vt:lpstr>
      <vt:lpstr>JS Loops</vt:lpstr>
      <vt:lpstr>DOM Manipulation</vt:lpstr>
      <vt:lpstr>DOM Manipulation</vt:lpstr>
      <vt:lpstr>JS Events</vt:lpstr>
      <vt:lpstr>JS Events</vt:lpstr>
      <vt:lpstr>Event Handlers</vt:lpstr>
      <vt:lpstr>PowerPoint Presentation</vt:lpstr>
      <vt:lpstr>JS Events</vt:lpstr>
      <vt:lpstr> Prevent Default Action</vt:lpstr>
      <vt:lpstr>OnLoad Event</vt:lpstr>
      <vt:lpstr>This keyword</vt:lpstr>
      <vt:lpstr>This</vt:lpstr>
      <vt:lpstr>This in event handling</vt:lpstr>
      <vt:lpstr>PowerPoint Presentation</vt:lpstr>
      <vt:lpstr>PowerPoint Presentation</vt:lpstr>
      <vt:lpstr>PowerPoint Presentation</vt:lpstr>
      <vt:lpstr>Resources to Learn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JavaScript</dc:title>
  <dc:subject/>
  <dc:creator/>
  <dc:description/>
  <cp:lastModifiedBy>usama_nadeem23@hotmail.com</cp:lastModifiedBy>
  <cp:revision>16</cp:revision>
  <dcterms:modified xsi:type="dcterms:W3CDTF">2025-09-19T07:15:24Z</dcterms:modified>
  <dc:language>en-US</dc:language>
</cp:coreProperties>
</file>