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14.xml" ContentType="application/vnd.openxmlformats-officedocument.theme+xml"/>
  <Override PartName="/ppt/slideLayouts/slideLayout22.xml" ContentType="application/vnd.openxmlformats-officedocument.presentationml.slideLayout+xml"/>
  <Override PartName="/ppt/theme/theme15.xml" ContentType="application/vnd.openxmlformats-officedocument.theme+xml"/>
  <Override PartName="/ppt/slideLayouts/slideLayout23.xml" ContentType="application/vnd.openxmlformats-officedocument.presentationml.slideLayout+xml"/>
  <Override PartName="/ppt/theme/theme16.xml" ContentType="application/vnd.openxmlformats-officedocument.theme+xml"/>
  <Override PartName="/ppt/slideLayouts/slideLayout24.xml" ContentType="application/vnd.openxmlformats-officedocument.presentationml.slideLayout+xml"/>
  <Override PartName="/ppt/theme/theme17.xml" ContentType="application/vnd.openxmlformats-officedocument.theme+xml"/>
  <Override PartName="/ppt/slideLayouts/slideLayout25.xml" ContentType="application/vnd.openxmlformats-officedocument.presentationml.slideLayout+xml"/>
  <Override PartName="/ppt/theme/theme18.xml" ContentType="application/vnd.openxmlformats-officedocument.theme+xml"/>
  <Override PartName="/ppt/slideLayouts/slideLayout26.xml" ContentType="application/vnd.openxmlformats-officedocument.presentationml.slideLayout+xml"/>
  <Override PartName="/ppt/theme/theme19.xml" ContentType="application/vnd.openxmlformats-officedocument.theme+xml"/>
  <Override PartName="/ppt/slideLayouts/slideLayout27.xml" ContentType="application/vnd.openxmlformats-officedocument.presentationml.slideLayout+xml"/>
  <Override PartName="/ppt/theme/theme20.xml" ContentType="application/vnd.openxmlformats-officedocument.theme+xml"/>
  <Override PartName="/ppt/slideLayouts/slideLayout28.xml" ContentType="application/vnd.openxmlformats-officedocument.presentationml.slideLayout+xml"/>
  <Override PartName="/ppt/theme/theme21.xml" ContentType="application/vnd.openxmlformats-officedocument.theme+xml"/>
  <Override PartName="/ppt/slideLayouts/slideLayout29.xml" ContentType="application/vnd.openxmlformats-officedocument.presentationml.slideLayout+xml"/>
  <Override PartName="/ppt/theme/theme22.xml" ContentType="application/vnd.openxmlformats-officedocument.theme+xml"/>
  <Override PartName="/ppt/slideLayouts/slideLayout30.xml" ContentType="application/vnd.openxmlformats-officedocument.presentationml.slideLayout+xml"/>
  <Override PartName="/ppt/theme/theme23.xml" ContentType="application/vnd.openxmlformats-officedocument.theme+xml"/>
  <Override PartName="/ppt/slideLayouts/slideLayout31.xml" ContentType="application/vnd.openxmlformats-officedocument.presentationml.slideLayout+xml"/>
  <Override PartName="/ppt/theme/theme24.xml" ContentType="application/vnd.openxmlformats-officedocument.theme+xml"/>
  <Override PartName="/ppt/slideLayouts/slideLayout32.xml" ContentType="application/vnd.openxmlformats-officedocument.presentationml.slideLayout+xml"/>
  <Override PartName="/ppt/theme/theme25.xml" ContentType="application/vnd.openxmlformats-officedocument.theme+xml"/>
  <Override PartName="/ppt/slideLayouts/slideLayout33.xml" ContentType="application/vnd.openxmlformats-officedocument.presentationml.slideLayout+xml"/>
  <Override PartName="/ppt/theme/theme26.xml" ContentType="application/vnd.openxmlformats-officedocument.theme+xml"/>
  <Override PartName="/ppt/slideLayouts/slideLayout34.xml" ContentType="application/vnd.openxmlformats-officedocument.presentationml.slideLayout+xml"/>
  <Override PartName="/ppt/theme/theme27.xml" ContentType="application/vnd.openxmlformats-officedocument.theme+xml"/>
  <Override PartName="/ppt/slideLayouts/slideLayout35.xml" ContentType="application/vnd.openxmlformats-officedocument.presentationml.slideLayout+xml"/>
  <Override PartName="/ppt/theme/theme28.xml" ContentType="application/vnd.openxmlformats-officedocument.theme+xml"/>
  <Override PartName="/ppt/slideLayouts/slideLayout36.xml" ContentType="application/vnd.openxmlformats-officedocument.presentationml.slideLayout+xml"/>
  <Override PartName="/ppt/theme/theme29.xml" ContentType="application/vnd.openxmlformats-officedocument.theme+xml"/>
  <Override PartName="/ppt/theme/theme3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  <p:sldMasterId id="2147483670" r:id="rId12"/>
    <p:sldMasterId id="2147483672" r:id="rId13"/>
    <p:sldMasterId id="2147483674" r:id="rId14"/>
    <p:sldMasterId id="2147483683" r:id="rId15"/>
    <p:sldMasterId id="2147483685" r:id="rId16"/>
    <p:sldMasterId id="2147483687" r:id="rId17"/>
    <p:sldMasterId id="2147483689" r:id="rId18"/>
    <p:sldMasterId id="2147483691" r:id="rId19"/>
    <p:sldMasterId id="2147483693" r:id="rId20"/>
    <p:sldMasterId id="2147483695" r:id="rId21"/>
    <p:sldMasterId id="2147483697" r:id="rId22"/>
    <p:sldMasterId id="2147483699" r:id="rId23"/>
    <p:sldMasterId id="2147483701" r:id="rId24"/>
    <p:sldMasterId id="2147483703" r:id="rId25"/>
    <p:sldMasterId id="2147483705" r:id="rId26"/>
    <p:sldMasterId id="2147483707" r:id="rId27"/>
    <p:sldMasterId id="2147483709" r:id="rId28"/>
    <p:sldMasterId id="2147483711" r:id="rId29"/>
  </p:sldMasterIdLst>
  <p:notesMasterIdLst>
    <p:notesMasterId r:id="rId56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00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10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5.xml"/><Relationship Id="rId42" Type="http://schemas.openxmlformats.org/officeDocument/2006/relationships/slide" Target="slides/slide13.xml"/><Relationship Id="rId47" Type="http://schemas.openxmlformats.org/officeDocument/2006/relationships/slide" Target="slides/slide18.xml"/><Relationship Id="rId50" Type="http://schemas.openxmlformats.org/officeDocument/2006/relationships/slide" Target="slides/slide21.xml"/><Relationship Id="rId55" Type="http://schemas.openxmlformats.org/officeDocument/2006/relationships/slide" Target="slides/slide26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3.xml"/><Relationship Id="rId37" Type="http://schemas.openxmlformats.org/officeDocument/2006/relationships/slide" Target="slides/slide8.xml"/><Relationship Id="rId40" Type="http://schemas.openxmlformats.org/officeDocument/2006/relationships/slide" Target="slides/slide11.xml"/><Relationship Id="rId45" Type="http://schemas.openxmlformats.org/officeDocument/2006/relationships/slide" Target="slides/slide16.xml"/><Relationship Id="rId53" Type="http://schemas.openxmlformats.org/officeDocument/2006/relationships/slide" Target="slides/slide24.xml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" Target="slides/slide1.xml"/><Relationship Id="rId35" Type="http://schemas.openxmlformats.org/officeDocument/2006/relationships/slide" Target="slides/slide6.xml"/><Relationship Id="rId43" Type="http://schemas.openxmlformats.org/officeDocument/2006/relationships/slide" Target="slides/slide14.xml"/><Relationship Id="rId48" Type="http://schemas.openxmlformats.org/officeDocument/2006/relationships/slide" Target="slides/slide19.xml"/><Relationship Id="rId56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4.xml"/><Relationship Id="rId38" Type="http://schemas.openxmlformats.org/officeDocument/2006/relationships/slide" Target="slides/slide9.xml"/><Relationship Id="rId46" Type="http://schemas.openxmlformats.org/officeDocument/2006/relationships/slide" Target="slides/slide17.xml"/><Relationship Id="rId59" Type="http://schemas.openxmlformats.org/officeDocument/2006/relationships/theme" Target="theme/theme1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2.xml"/><Relationship Id="rId54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7.xml"/><Relationship Id="rId49" Type="http://schemas.openxmlformats.org/officeDocument/2006/relationships/slide" Target="slides/slide20.xml"/><Relationship Id="rId57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.xml"/><Relationship Id="rId44" Type="http://schemas.openxmlformats.org/officeDocument/2006/relationships/slide" Target="slides/slide15.xml"/><Relationship Id="rId52" Type="http://schemas.openxmlformats.org/officeDocument/2006/relationships/slide" Target="slides/slide23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5" name="PlaceHolder 4"/>
          <p:cNvSpPr>
            <a:spLocks noGrp="1"/>
          </p:cNvSpPr>
          <p:nvPr>
            <p:ph type="dt" idx="5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6" name="PlaceHolder 5"/>
          <p:cNvSpPr>
            <a:spLocks noGrp="1"/>
          </p:cNvSpPr>
          <p:nvPr>
            <p:ph type="ftr" idx="6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47" name="PlaceHolder 6"/>
          <p:cNvSpPr>
            <a:spLocks noGrp="1"/>
          </p:cNvSpPr>
          <p:nvPr>
            <p:ph type="sldNum" idx="6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67D241-D9FF-4F08-80ED-6085BF2DE815}" type="slidenum"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4972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Calibri"/>
                <a:ea typeface="Calibri"/>
              </a:rPr>
              <a:t>.</a:t>
            </a:r>
            <a:endParaRPr lang="en-US" sz="1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C068D3-F8E5-4D75-87F9-34FEFF7B941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112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B12C7D0-FD5B-4FCA-BE4E-35354B8B199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6822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038077-9947-4702-9F16-9A28C4A02E4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5680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7CB423-B8E4-4CB5-AEF7-4AF6000EB15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0246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1389A4-DB94-4CBE-8718-B24FAC721DC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6311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BD79AD-CEDE-4F9B-8CE7-FDDB15DE4E5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358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39945D2-7311-49A1-BBE7-E449ACBA2632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3924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FA1B630-4325-4112-BEB5-2B224BA69A2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1236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B5DD7D-26A1-4F32-AAA1-C689535E73C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42834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BBDB31C-650F-4767-A2ED-EF8629AEE8B4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4392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0F7D136-68E0-47C9-A3FA-56B0B977701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436027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55759D-7FA8-416C-93D0-B45897CFDCAC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2874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122B5C-1256-4ABA-AE7C-2B75A29BAAB9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8645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2AF5EF-C1B3-4EE7-AF80-63D4EDABC14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854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8D8115-193E-4EA6-8EEE-15AAF2A7BE11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4603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E950B6-8B48-4AD4-AFEB-5961CE73F01E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16264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ED152B-D0FE-40E3-8718-4CA529F66FAA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19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03273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94F70B1-CC75-4341-9F8D-D38B81987B45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874298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7DCF1B-873B-49FB-B41C-F4EE0D2D18F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80304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C3ACDE7-6B25-4907-A525-D0AD035426BF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3361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890808C-30F2-4CD0-A013-9B01B48579F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0500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5484A6-8A01-4CA7-8697-F011F6D1C42D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3465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57020A3-768D-4225-B3FA-CD8D990D2A83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5801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3213" cy="3084513"/>
          </a:xfrm>
          <a:prstGeom prst="rect">
            <a:avLst/>
          </a:prstGeom>
          <a:ln w="0">
            <a:noFill/>
          </a:ln>
        </p:spPr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755D59-CC12-4BC0-B615-C06CD0EEAE87}" type="slidenum">
              <a:rPr lang="en-US" sz="1800" b="0" u="none" strike="noStrike">
                <a:solidFill>
                  <a:srgbClr val="000000"/>
                </a:solidFill>
                <a:uFillTx/>
                <a:latin typeface="Times New Roman"/>
              </a:rPr>
              <a:t>26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4579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3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ubTitle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4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4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/>
          </p:nvPr>
        </p:nvSpPr>
        <p:spPr>
          <a:xfrm>
            <a:off x="4266360" y="2053080"/>
            <a:ext cx="327456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5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2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5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2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3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4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6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7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8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9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30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1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2.xml"/></Relationships>
</file>

<file path=ppt/slideMasters/_rels/slideMaster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3.xml"/></Relationships>
</file>

<file path=ppt/slideMasters/_rels/slideMaster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4.xml"/></Relationships>
</file>

<file path=ppt/slideMasters/_rels/slideMaster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5.xml"/></Relationships>
</file>

<file path=ppt/slideMasters/_rels/slideMaster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ftr" idx="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dt" idx="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ftr" idx="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dt" idx="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ftr" idx="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dt" idx="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Google Shape;85;p13"/>
          <p:cNvSpPr/>
          <p:nvPr/>
        </p:nvSpPr>
        <p:spPr>
          <a:xfrm>
            <a:off x="673920" y="971280"/>
            <a:ext cx="60048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“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" name="Google Shape;86;p13"/>
          <p:cNvSpPr/>
          <p:nvPr/>
        </p:nvSpPr>
        <p:spPr>
          <a:xfrm>
            <a:off x="6999840" y="2613960"/>
            <a:ext cx="600480" cy="194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2200" b="0" u="none" strike="noStrike">
                <a:solidFill>
                  <a:srgbClr val="EFF8FC"/>
                </a:solidFill>
                <a:uFillTx/>
                <a:latin typeface="Arial"/>
                <a:ea typeface="Arial"/>
              </a:rPr>
              <a:t>”</a:t>
            </a:r>
            <a:endParaRPr lang="en-US" sz="1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ftr" idx="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8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49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ftr" idx="9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10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8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59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60" name="Google Shape;100;p15"/>
          <p:cNvCxnSpPr/>
          <p:nvPr/>
        </p:nvCxnSpPr>
        <p:spPr>
          <a:xfrm>
            <a:off x="2795040" y="2133360"/>
            <a:ext cx="1080" cy="39636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61" name="Google Shape;101;p15"/>
          <p:cNvCxnSpPr/>
          <p:nvPr/>
        </p:nvCxnSpPr>
        <p:spPr>
          <a:xfrm>
            <a:off x="5222880" y="2133360"/>
            <a:ext cx="1080" cy="396792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62" name="PlaceHolder 1"/>
          <p:cNvSpPr>
            <a:spLocks noGrp="1"/>
          </p:cNvSpPr>
          <p:nvPr>
            <p:ph type="ftr" idx="1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dt" idx="1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7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72" name="Google Shape;115;p16"/>
          <p:cNvCxnSpPr/>
          <p:nvPr/>
        </p:nvCxnSpPr>
        <p:spPr>
          <a:xfrm>
            <a:off x="2795040" y="2133360"/>
            <a:ext cx="1080" cy="396360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cxnSp>
        <p:nvCxnSpPr>
          <p:cNvPr id="73" name="Google Shape;116;p16"/>
          <p:cNvCxnSpPr/>
          <p:nvPr/>
        </p:nvCxnSpPr>
        <p:spPr>
          <a:xfrm>
            <a:off x="5222880" y="2133360"/>
            <a:ext cx="1080" cy="3967920"/>
          </a:xfrm>
          <a:prstGeom prst="straightConnector1">
            <a:avLst/>
          </a:prstGeom>
          <a:ln w="12700">
            <a:solidFill>
              <a:srgbClr val="EFF8FC">
                <a:alpha val="40000"/>
              </a:srgbClr>
            </a:solidFill>
            <a:round/>
          </a:ln>
        </p:spPr>
      </p:cxnSp>
      <p:sp>
        <p:nvSpPr>
          <p:cNvPr id="74" name="PlaceHolder 1"/>
          <p:cNvSpPr>
            <a:spLocks noGrp="1"/>
          </p:cNvSpPr>
          <p:nvPr>
            <p:ph type="ftr" idx="1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dt" idx="1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83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ftr" idx="1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dt" idx="1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93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ftr" idx="1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dt" idx="1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0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03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5" name="PlaceHolder 2"/>
          <p:cNvSpPr>
            <a:spLocks noGrp="1"/>
          </p:cNvSpPr>
          <p:nvPr>
            <p:ph type="ftr" idx="19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6" name="PlaceHolder 3"/>
          <p:cNvSpPr>
            <a:spLocks noGrp="1"/>
          </p:cNvSpPr>
          <p:nvPr>
            <p:ph type="dt" idx="20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1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1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20" name="PlaceHolder 3"/>
          <p:cNvSpPr>
            <a:spLocks noGrp="1"/>
          </p:cNvSpPr>
          <p:nvPr>
            <p:ph type="ftr" idx="2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21" name="PlaceHolder 4"/>
          <p:cNvSpPr>
            <a:spLocks noGrp="1"/>
          </p:cNvSpPr>
          <p:nvPr>
            <p:ph type="dt" idx="2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3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35" name="PlaceHolder 4"/>
          <p:cNvSpPr>
            <a:spLocks noGrp="1"/>
          </p:cNvSpPr>
          <p:nvPr>
            <p:ph type="ftr" idx="2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36" name="PlaceHolder 5"/>
          <p:cNvSpPr>
            <a:spLocks noGrp="1"/>
          </p:cNvSpPr>
          <p:nvPr>
            <p:ph type="dt" idx="2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4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ftr" idx="2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dt" idx="2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8" name="Google Shape;18;p1"/>
          <p:cNvPicPr/>
          <p:nvPr/>
        </p:nvPicPr>
        <p:blipFill>
          <a:blip r:embed="rId10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59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2" name="PlaceHolder 3"/>
          <p:cNvSpPr>
            <a:spLocks noGrp="1"/>
          </p:cNvSpPr>
          <p:nvPr>
            <p:ph type="ftr" idx="2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163" name="PlaceHolder 4"/>
          <p:cNvSpPr>
            <a:spLocks noGrp="1"/>
          </p:cNvSpPr>
          <p:nvPr>
            <p:ph type="dt" idx="2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8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ftr" idx="29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83" name="PlaceHolder 2"/>
          <p:cNvSpPr>
            <a:spLocks noGrp="1"/>
          </p:cNvSpPr>
          <p:nvPr>
            <p:ph type="dt" idx="30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19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ftr" idx="3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193" name="PlaceHolder 2"/>
          <p:cNvSpPr>
            <a:spLocks noGrp="1"/>
          </p:cNvSpPr>
          <p:nvPr>
            <p:ph type="dt" idx="3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0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0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ftr" idx="3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03" name="PlaceHolder 2"/>
          <p:cNvSpPr>
            <a:spLocks noGrp="1"/>
          </p:cNvSpPr>
          <p:nvPr>
            <p:ph type="dt" idx="3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10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11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3" name="PlaceHolder 2"/>
          <p:cNvSpPr>
            <a:spLocks noGrp="1"/>
          </p:cNvSpPr>
          <p:nvPr>
            <p:ph type="ftr" idx="3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14" name="PlaceHolder 3"/>
          <p:cNvSpPr>
            <a:spLocks noGrp="1"/>
          </p:cNvSpPr>
          <p:nvPr>
            <p:ph type="dt" idx="3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9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2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24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ftr" idx="3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26" name="PlaceHolder 2"/>
          <p:cNvSpPr>
            <a:spLocks noGrp="1"/>
          </p:cNvSpPr>
          <p:nvPr>
            <p:ph type="dt" idx="3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34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ftr" idx="39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36" name="PlaceHolder 2"/>
          <p:cNvSpPr>
            <a:spLocks noGrp="1"/>
          </p:cNvSpPr>
          <p:nvPr>
            <p:ph type="dt" idx="40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4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44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ftr" idx="4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dt" idx="4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0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1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2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53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54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6" name="PlaceHolder 2"/>
          <p:cNvSpPr>
            <a:spLocks noGrp="1"/>
          </p:cNvSpPr>
          <p:nvPr>
            <p:ph type="ftr" idx="4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57" name="PlaceHolder 3"/>
          <p:cNvSpPr>
            <a:spLocks noGrp="1"/>
          </p:cNvSpPr>
          <p:nvPr>
            <p:ph type="dt" idx="4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6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ftr" idx="4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dt" idx="4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1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2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3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4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5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6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77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32742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4266360" y="2053080"/>
            <a:ext cx="32742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1" name="PlaceHolder 4"/>
          <p:cNvSpPr>
            <a:spLocks noGrp="1"/>
          </p:cNvSpPr>
          <p:nvPr>
            <p:ph type="ftr" idx="4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282" name="PlaceHolder 5"/>
          <p:cNvSpPr>
            <a:spLocks noGrp="1"/>
          </p:cNvSpPr>
          <p:nvPr>
            <p:ph type="dt" idx="4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1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9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293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ftr" idx="49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295" name="PlaceHolder 2"/>
          <p:cNvSpPr>
            <a:spLocks noGrp="1"/>
          </p:cNvSpPr>
          <p:nvPr>
            <p:ph type="dt" idx="50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0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1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02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03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5" name="PlaceHolder 2"/>
          <p:cNvSpPr>
            <a:spLocks noGrp="1"/>
          </p:cNvSpPr>
          <p:nvPr>
            <p:ph type="ftr" idx="51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06" name="PlaceHolder 3"/>
          <p:cNvSpPr>
            <a:spLocks noGrp="1"/>
          </p:cNvSpPr>
          <p:nvPr>
            <p:ph type="dt" idx="52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0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1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2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3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4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15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ftr" idx="53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17" name="PlaceHolder 2"/>
          <p:cNvSpPr>
            <a:spLocks noGrp="1"/>
          </p:cNvSpPr>
          <p:nvPr>
            <p:ph type="dt" idx="54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0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1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3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4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25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ftr" idx="55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  <p:sp>
        <p:nvSpPr>
          <p:cNvPr id="327" name="PlaceHolder 2"/>
          <p:cNvSpPr>
            <a:spLocks noGrp="1"/>
          </p:cNvSpPr>
          <p:nvPr>
            <p:ph type="dt" idx="56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10;p1"/>
          <p:cNvSpPr/>
          <p:nvPr/>
        </p:nvSpPr>
        <p:spPr>
          <a:xfrm>
            <a:off x="6299280" y="1676520"/>
            <a:ext cx="2818440" cy="2818440"/>
          </a:xfrm>
          <a:prstGeom prst="ellipse">
            <a:avLst/>
          </a:prstGeom>
          <a:gradFill rotWithShape="0">
            <a:gsLst>
              <a:gs pos="0">
                <a:srgbClr val="E8F5FB">
                  <a:alpha val="7000"/>
                </a:srgbClr>
              </a:gs>
              <a:gs pos="36000">
                <a:srgbClr val="E8F5FB">
                  <a:alpha val="6000"/>
                </a:srgbClr>
              </a:gs>
              <a:gs pos="69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Google Shape;11;p1"/>
          <p:cNvSpPr/>
          <p:nvPr/>
        </p:nvSpPr>
        <p:spPr>
          <a:xfrm>
            <a:off x="5689800" y="-457200"/>
            <a:ext cx="1599120" cy="1599120"/>
          </a:xfrm>
          <a:prstGeom prst="ellipse">
            <a:avLst/>
          </a:prstGeom>
          <a:gradFill rotWithShape="0">
            <a:gsLst>
              <a:gs pos="0">
                <a:srgbClr val="E8F5FB">
                  <a:alpha val="14000"/>
                </a:srgbClr>
              </a:gs>
              <a:gs pos="36000">
                <a:srgbClr val="E8F5FB">
                  <a:alpha val="7000"/>
                </a:srgbClr>
              </a:gs>
              <a:gs pos="73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0" name="Google Shape;12;p1"/>
          <p:cNvSpPr/>
          <p:nvPr/>
        </p:nvSpPr>
        <p:spPr>
          <a:xfrm>
            <a:off x="6299280" y="6095880"/>
            <a:ext cx="989640" cy="989640"/>
          </a:xfrm>
          <a:prstGeom prst="ellipse">
            <a:avLst/>
          </a:prstGeom>
          <a:gradFill rotWithShape="0">
            <a:gsLst>
              <a:gs pos="0">
                <a:srgbClr val="E8F5FB">
                  <a:alpha val="9000"/>
                </a:srgbClr>
              </a:gs>
              <a:gs pos="36000">
                <a:srgbClr val="E8F5FB">
                  <a:alpha val="5000"/>
                </a:srgbClr>
              </a:gs>
              <a:gs pos="66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Google Shape;13;p1"/>
          <p:cNvSpPr/>
          <p:nvPr/>
        </p:nvSpPr>
        <p:spPr>
          <a:xfrm>
            <a:off x="-154080" y="2666880"/>
            <a:ext cx="4190040" cy="4190040"/>
          </a:xfrm>
          <a:prstGeom prst="ellipse">
            <a:avLst/>
          </a:prstGeom>
          <a:gradFill rotWithShape="0">
            <a:gsLst>
              <a:gs pos="0">
                <a:srgbClr val="E8F5FB">
                  <a:alpha val="11000"/>
                </a:srgbClr>
              </a:gs>
              <a:gs pos="36000">
                <a:srgbClr val="E8F5FB">
                  <a:alpha val="10000"/>
                </a:srgbClr>
              </a:gs>
              <a:gs pos="75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2" name="Google Shape;14;p1"/>
          <p:cNvSpPr/>
          <p:nvPr/>
        </p:nvSpPr>
        <p:spPr>
          <a:xfrm>
            <a:off x="-839880" y="2895480"/>
            <a:ext cx="2361240" cy="2361240"/>
          </a:xfrm>
          <a:prstGeom prst="ellipse">
            <a:avLst/>
          </a:prstGeom>
          <a:gradFill rotWithShape="0">
            <a:gsLst>
              <a:gs pos="0">
                <a:srgbClr val="E8F5FB">
                  <a:alpha val="8000"/>
                </a:srgbClr>
              </a:gs>
              <a:gs pos="36000">
                <a:srgbClr val="E8F5FB">
                  <a:alpha val="8000"/>
                </a:srgbClr>
              </a:gs>
              <a:gs pos="72000">
                <a:srgbClr val="E8F5FB">
                  <a:alpha val="0"/>
                </a:srgbClr>
              </a:gs>
              <a:gs pos="100000">
                <a:srgbClr val="E8F5F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Google Shape;15;p1"/>
          <p:cNvSpPr/>
          <p:nvPr/>
        </p:nvSpPr>
        <p:spPr>
          <a:xfrm>
            <a:off x="7745760" y="0"/>
            <a:ext cx="684720" cy="109836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st="25560" dir="5400000" rotWithShape="0">
              <a:srgbClr val="000000">
                <a:alpha val="4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4" name="Google Shape;18;p1"/>
          <p:cNvPicPr/>
          <p:nvPr/>
        </p:nvPicPr>
        <p:blipFill>
          <a:blip r:embed="rId3"/>
          <a:stretch/>
        </p:blipFill>
        <p:spPr>
          <a:xfrm>
            <a:off x="7627320" y="76320"/>
            <a:ext cx="921240" cy="921240"/>
          </a:xfrm>
          <a:prstGeom prst="rect">
            <a:avLst/>
          </a:prstGeom>
          <a:noFill/>
          <a:ln w="0">
            <a:noFill/>
          </a:ln>
          <a:effectLst>
            <a:outerShdw blurRad="127080" algn="tl" rotWithShape="0">
              <a:srgbClr val="000000">
                <a:alpha val="89000"/>
              </a:srgbClr>
            </a:outerShdw>
          </a:effectLst>
        </p:spPr>
      </p:pic>
      <p:sp>
        <p:nvSpPr>
          <p:cNvPr id="335" name="Google Shape;19;p1"/>
          <p:cNvSpPr/>
          <p:nvPr/>
        </p:nvSpPr>
        <p:spPr>
          <a:xfrm>
            <a:off x="12600" y="6248520"/>
            <a:ext cx="9117720" cy="608400"/>
          </a:xfrm>
          <a:prstGeom prst="rect">
            <a:avLst/>
          </a:prstGeom>
          <a:solidFill>
            <a:srgbClr val="0B2036">
              <a:alpha val="82000"/>
            </a:srgbClr>
          </a:solidFill>
          <a:ln w="28575">
            <a:solidFill>
              <a:srgbClr val="0A519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38" name="PlaceHolder 3"/>
          <p:cNvSpPr>
            <a:spLocks noGrp="1"/>
          </p:cNvSpPr>
          <p:nvPr>
            <p:ph type="ftr" idx="57"/>
          </p:nvPr>
        </p:nvSpPr>
        <p:spPr>
          <a:xfrm rot="5400000">
            <a:off x="6234120" y="3263400"/>
            <a:ext cx="38588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&lt;footer&gt;</a:t>
            </a:r>
          </a:p>
        </p:txBody>
      </p:sp>
      <p:sp>
        <p:nvSpPr>
          <p:cNvPr id="339" name="PlaceHolder 4"/>
          <p:cNvSpPr>
            <a:spLocks noGrp="1"/>
          </p:cNvSpPr>
          <p:nvPr>
            <p:ph type="dt" idx="58"/>
          </p:nvPr>
        </p:nvSpPr>
        <p:spPr>
          <a:xfrm rot="5400000">
            <a:off x="7495920" y="1828800"/>
            <a:ext cx="989640" cy="227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FFFFFF"/>
                </a:solidFill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194040" y="898560"/>
            <a:ext cx="8454240" cy="332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925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 err="1">
                <a:solidFill>
                  <a:schemeClr val="dk2"/>
                </a:solidFill>
                <a:uFillTx/>
                <a:latin typeface="Arial"/>
                <a:ea typeface="Arial"/>
              </a:rPr>
              <a:t>Javascript</a:t>
            </a: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/>
                <a:ea typeface="Arial"/>
              </a:rPr>
              <a:t> </a:t>
            </a:r>
            <a:r>
              <a:rPr lang="en-US" sz="4400" b="0" u="none" strike="noStrike" dirty="0" smtClean="0">
                <a:solidFill>
                  <a:schemeClr val="dk2"/>
                </a:solidFill>
                <a:uFillTx/>
                <a:latin typeface="Arial"/>
                <a:ea typeface="Arial"/>
              </a:rPr>
              <a:t>-</a:t>
            </a:r>
            <a:endParaRPr lang="en-US" sz="44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/>
                <a:ea typeface="Arial"/>
              </a:rPr>
              <a:t>Callbacks, Promises, </a:t>
            </a:r>
            <a:r>
              <a:rPr lang="en-US" sz="4400" b="0" u="none" strike="noStrike" dirty="0" err="1">
                <a:solidFill>
                  <a:schemeClr val="dk2"/>
                </a:solidFill>
                <a:uFillTx/>
                <a:latin typeface="Arial"/>
                <a:ea typeface="Arial"/>
              </a:rPr>
              <a:t>Async</a:t>
            </a: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/>
                <a:ea typeface="Arial"/>
              </a:rPr>
              <a:t>/await, </a:t>
            </a:r>
            <a:r>
              <a:rPr lang="en-US" sz="4400" b="0" u="none" strike="noStrike" dirty="0" err="1">
                <a:solidFill>
                  <a:schemeClr val="dk2"/>
                </a:solidFill>
                <a:uFillTx/>
                <a:latin typeface="Arial"/>
                <a:ea typeface="Arial"/>
              </a:rPr>
              <a:t>Eventloop</a:t>
            </a:r>
            <a:r>
              <a:rPr lang="en-US" sz="4400" b="0" u="none" strike="noStrike" dirty="0">
                <a:solidFill>
                  <a:schemeClr val="dk2"/>
                </a:solidFill>
                <a:uFillTx/>
                <a:latin typeface="Arial"/>
                <a:ea typeface="Arial"/>
              </a:rPr>
              <a:t> </a:t>
            </a:r>
            <a:endParaRPr lang="en-US" sz="44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subTitle"/>
          </p:nvPr>
        </p:nvSpPr>
        <p:spPr>
          <a:xfrm>
            <a:off x="923040" y="5029200"/>
            <a:ext cx="6620040" cy="86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algn="ctr">
              <a:buNone/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411480" y="53676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Callbacks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244080" y="1528200"/>
            <a:ext cx="905364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dk1"/>
                </a:solidFill>
                <a:highlight>
                  <a:srgbClr val="D6E4F5"/>
                </a:highlight>
                <a:uFillTx/>
                <a:latin typeface="Verdana"/>
                <a:ea typeface="Verdana"/>
              </a:rPr>
              <a:t>A callback is a function passed as an argument to another function. This technique allows a function to call another function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function calculate(a, b, callback) {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let result = callback(a, b);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console.log("Result:", result);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}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function add(x, y) {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    return x + y;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}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0000CD"/>
                </a:solidFill>
                <a:highlight>
                  <a:srgbClr val="D6E4F5"/>
                </a:highlight>
                <a:uFillTx/>
                <a:latin typeface="Consolas"/>
                <a:ea typeface="Consolas"/>
              </a:rPr>
              <a:t>calculate(5, 3, add);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00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00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484560" y="839880"/>
            <a:ext cx="7054200" cy="624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uFillTx/>
                <a:latin typeface="Arial"/>
              </a:rPr>
              <a:t>Browser APIs</a:t>
            </a:r>
            <a:endParaRPr lang="en-US" sz="44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3" name="Rectangle 352"/>
          <p:cNvSpPr/>
          <p:nvPr/>
        </p:nvSpPr>
        <p:spPr>
          <a:xfrm>
            <a:off x="685800" y="2286000"/>
            <a:ext cx="8164800" cy="26496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1. The Browser Web APIs are a set of built-in APIs provided by modern web browsers that allow developers to interact with various browser features.</a:t>
            </a: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2. Some of the browser APIs are DOM API, Fetch API, Storage APIs, etc.</a:t>
            </a: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3. Some of the APIs are asynchronous and run in a background thread, such as fetch API.</a:t>
            </a: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4. Some APIs run in the main thread, such as DOM manipulation, storage APIs (session storage, local storage, etc.)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Asynchronous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268560" y="1208160"/>
            <a:ext cx="8874360" cy="4197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JavaScript is </a:t>
            </a: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single-threaded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, meaning it executes one task at a time. However, </a:t>
            </a: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asynchronous programming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 allows it to handle multiple tasks </a:t>
            </a:r>
            <a:r>
              <a:rPr lang="en-US" sz="2000" b="1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without blocking execution</a:t>
            </a:r>
            <a:r>
              <a:rPr lang="en-US" sz="2000" b="0" u="none" strike="noStrike">
                <a:solidFill>
                  <a:schemeClr val="dk1"/>
                </a:solidFill>
                <a:highlight>
                  <a:srgbClr val="D6E4F5"/>
                </a:highlight>
                <a:uFillTx/>
                <a:latin typeface="Roboto"/>
                <a:ea typeface="Roboto"/>
              </a:rPr>
              <a:t>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Synchronous Code 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(Executes One Task at a Time)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800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56" name="Google Shape;150;p21"/>
          <p:cNvPicPr/>
          <p:nvPr/>
        </p:nvPicPr>
        <p:blipFill>
          <a:blip r:embed="rId3"/>
          <a:stretch/>
        </p:blipFill>
        <p:spPr>
          <a:xfrm>
            <a:off x="3978000" y="2526480"/>
            <a:ext cx="5079240" cy="36568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228600" y="36612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Promises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8" name="Google Shape;157;p22"/>
          <p:cNvSpPr/>
          <p:nvPr/>
        </p:nvSpPr>
        <p:spPr>
          <a:xfrm>
            <a:off x="573480" y="1159200"/>
            <a:ext cx="7027560" cy="52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spAutoFit/>
          </a:bodyPr>
          <a:lstStyle/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A promise represents a future value that may either succeed or fail.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It starts in the Pending state and transitions to either: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Resolved (fulfilled with a value)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Rejected (failed with an error)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Most asynchronous Browser APIs return a promise on the main thread.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Once execution completes, the promise is resolved with a value or rejected with an error.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Roboto"/>
                <a:ea typeface="Roboto"/>
              </a:rPr>
              <a:t>To access the result, use .then(callback), and for errors, use .catch(callback).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Fetch API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0" name="Picture 359"/>
          <p:cNvPicPr/>
          <p:nvPr/>
        </p:nvPicPr>
        <p:blipFill>
          <a:blip r:embed="rId2"/>
          <a:stretch/>
        </p:blipFill>
        <p:spPr>
          <a:xfrm>
            <a:off x="632160" y="2811240"/>
            <a:ext cx="7597440" cy="1760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Async/Await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828360" y="146736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3430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Makes async code look </a:t>
            </a:r>
            <a:r>
              <a:rPr lang="en-US" sz="18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synchronous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Uses </a:t>
            </a:r>
            <a:r>
              <a:rPr lang="en-US" sz="18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try...catch</a:t>
            </a:r>
            <a:r>
              <a:rPr lang="en-US" sz="18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for error handling.</a:t>
            </a: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3" name="Picture 362"/>
          <p:cNvPicPr/>
          <p:nvPr/>
        </p:nvPicPr>
        <p:blipFill>
          <a:blip r:embed="rId3"/>
          <a:stretch/>
        </p:blipFill>
        <p:spPr>
          <a:xfrm>
            <a:off x="19080" y="2409120"/>
            <a:ext cx="9143640" cy="26888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Async/Await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56640" y="167724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async function example(throwError=false) {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if (throwError) throw new Error("Promise rejected");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return 42;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}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console.log(example()); // Output: Promise { 42 }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example().then(console.log); // Output: 42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example(true).catch((error)=&gt;console.log(error.message)); // Promise rejected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Fetch api using JS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8" name="Google Shape;212;p 2"/>
          <p:cNvPicPr/>
          <p:nvPr/>
        </p:nvPicPr>
        <p:blipFill>
          <a:blip r:embed="rId3"/>
          <a:stretch/>
        </p:blipFill>
        <p:spPr>
          <a:xfrm>
            <a:off x="229680" y="780120"/>
            <a:ext cx="7906320" cy="5410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828360" y="12232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368280">
              <a:lnSpc>
                <a:spcPct val="100000"/>
              </a:lnSpc>
              <a:spcBef>
                <a:spcPts val="1001"/>
              </a:spcBef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When the fetch api completes asynchronously (outside of main thread), it then calls the callback passed in the then. But is the execution of callback started immediately?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 callback is actually placed in a queue.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When the javascript thread is free, it takes a task from the task queue and executes it.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00000"/>
              </a:lnSpc>
              <a:buClr>
                <a:srgbClr val="EFF8FC"/>
              </a:buClr>
              <a:buFont typeface="Noto Sans Symbols"/>
              <a:buChar char="►"/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Event Loop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is what makes JavaScript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asynchronous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 It allows JavaScript to handle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non-blocking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operations, even though it's single-threaded.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How Does Event Loop Works?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JavaScript has: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 Stack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Handles function execution (one at a time).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Web APIs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Handles asynchronous tasks (like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setTimeout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,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fetch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).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Callback Queue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Stores completed async tasks waiting to run.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6828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Event Loop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→ Moves tasks from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Callback Queue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to the </a:t>
            </a:r>
            <a:r>
              <a:rPr lang="en-US" sz="22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 Stack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when it's empty.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4" name="Google Shape;233;p32"/>
          <p:cNvPicPr/>
          <p:nvPr/>
        </p:nvPicPr>
        <p:blipFill>
          <a:blip r:embed="rId3"/>
          <a:stretch/>
        </p:blipFill>
        <p:spPr>
          <a:xfrm>
            <a:off x="754560" y="1285200"/>
            <a:ext cx="7289280" cy="5374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6" name="Google Shape;240;p33"/>
          <p:cNvPicPr/>
          <p:nvPr/>
        </p:nvPicPr>
        <p:blipFill>
          <a:blip r:embed="rId3"/>
          <a:stretch/>
        </p:blipFill>
        <p:spPr>
          <a:xfrm>
            <a:off x="1091880" y="125388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8" name="Google Shape;247;p34"/>
          <p:cNvPicPr/>
          <p:nvPr/>
        </p:nvPicPr>
        <p:blipFill>
          <a:blip r:embed="rId3"/>
          <a:stretch/>
        </p:blipFill>
        <p:spPr>
          <a:xfrm>
            <a:off x="1044720" y="125388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0" name="Google Shape;254;p35"/>
          <p:cNvPicPr/>
          <p:nvPr/>
        </p:nvPicPr>
        <p:blipFill>
          <a:blip r:embed="rId3"/>
          <a:stretch/>
        </p:blipFill>
        <p:spPr>
          <a:xfrm>
            <a:off x="1044720" y="139500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2" name="Google Shape;261;p36"/>
          <p:cNvPicPr/>
          <p:nvPr/>
        </p:nvPicPr>
        <p:blipFill>
          <a:blip r:embed="rId3"/>
          <a:stretch/>
        </p:blipFill>
        <p:spPr>
          <a:xfrm>
            <a:off x="1091880" y="136368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4" name="Picture 383"/>
          <p:cNvPicPr/>
          <p:nvPr/>
        </p:nvPicPr>
        <p:blipFill>
          <a:blip r:embed="rId3"/>
          <a:stretch/>
        </p:blipFill>
        <p:spPr>
          <a:xfrm>
            <a:off x="663120" y="1371600"/>
            <a:ext cx="6423120" cy="4155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6" name="Google Shape;275;p38"/>
          <p:cNvPicPr/>
          <p:nvPr/>
        </p:nvPicPr>
        <p:blipFill>
          <a:blip r:embed="rId3"/>
          <a:stretch/>
        </p:blipFill>
        <p:spPr>
          <a:xfrm>
            <a:off x="1060560" y="134784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88" name="Google Shape;282;p39"/>
          <p:cNvPicPr/>
          <p:nvPr/>
        </p:nvPicPr>
        <p:blipFill>
          <a:blip r:embed="rId3"/>
          <a:stretch/>
        </p:blipFill>
        <p:spPr>
          <a:xfrm>
            <a:off x="1232640" y="148896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0" name="Google Shape;289;p40"/>
          <p:cNvPicPr/>
          <p:nvPr/>
        </p:nvPicPr>
        <p:blipFill>
          <a:blip r:embed="rId3"/>
          <a:stretch/>
        </p:blipFill>
        <p:spPr>
          <a:xfrm>
            <a:off x="1232640" y="1520280"/>
            <a:ext cx="6372720" cy="46990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656640" y="1090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If there were some instructions after main function call, would cb still be placed on the call stack?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93" name="Google Shape;297;p41"/>
          <p:cNvPicPr/>
          <p:nvPr/>
        </p:nvPicPr>
        <p:blipFill>
          <a:blip r:embed="rId3"/>
          <a:stretch/>
        </p:blipFill>
        <p:spPr>
          <a:xfrm>
            <a:off x="1377720" y="1981440"/>
            <a:ext cx="6282000" cy="4632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Event Loop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/>
          </p:nvPr>
        </p:nvSpPr>
        <p:spPr>
          <a:xfrm>
            <a:off x="656640" y="1395360"/>
            <a:ext cx="7444800" cy="4815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No, because when JavaScript runs for the first time, it creates a global execution context, which is placed on the call stack.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All instructions outside a function belong to this global execution context.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The global execution context remains on the stack until the entire script finishes execution.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As a result, the callback won’t be added to the call stack until the script has fully executed—including the two instructions following the </a:t>
            </a:r>
            <a:r>
              <a:rPr lang="en-US" sz="22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main</a:t>
            </a:r>
            <a:r>
              <a:rPr lang="en-US" sz="2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function call.</a:t>
            </a: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816624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2 types of queues for callback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656640" y="1395360"/>
            <a:ext cx="816624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914400" indent="-355680">
              <a:lnSpc>
                <a:spcPct val="100000"/>
              </a:lnSpc>
              <a:spcBef>
                <a:spcPts val="1001"/>
              </a:spcBef>
              <a:buClr>
                <a:srgbClr val="EFF8FC"/>
              </a:buClr>
              <a:buFont typeface="Noto Sans Symbols"/>
              <a:buAutoNum type="arabicPeriod"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Microtask Queue (also called Job Queue)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914400" indent="-355680">
              <a:lnSpc>
                <a:spcPct val="100000"/>
              </a:lnSpc>
              <a:buClr>
                <a:srgbClr val="EFF8FC"/>
              </a:buClr>
              <a:buFont typeface="Noto Sans Symbols"/>
              <a:buAutoNum type="arabicPeriod"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Callback Queue (also called Task Queue or Macrotask Queue)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Microtask Queue (Job Queue)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Used for: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Promises 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Higher priority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than the Callback Queue.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Executes immediately after synchronous code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(before any tasks from the Callback Queue).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Callback Queue (Macrotask Queue)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Used for: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</a:t>
            </a:r>
            <a:r>
              <a:rPr lang="en-US" sz="2000" b="0" u="none" strike="noStrike">
                <a:solidFill>
                  <a:srgbClr val="188038"/>
                </a:solidFill>
                <a:uFillTx/>
                <a:latin typeface="Roboto Mono"/>
                <a:ea typeface="Roboto Mono"/>
              </a:rPr>
              <a:t>setTimeout(),setInterval(),event handlers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Lower priority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than the Microtask Queue.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Runs after all microtasks are cleared</a:t>
            </a:r>
            <a:r>
              <a:rPr lang="en-US" sz="20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118800" y="0"/>
            <a:ext cx="79218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Micro/Callback(Macro) Queue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118800" y="795960"/>
            <a:ext cx="902448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console.log("1: Start");</a:t>
            </a: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 dirty="0" err="1">
                <a:solidFill>
                  <a:schemeClr val="dk1"/>
                </a:solidFill>
                <a:uFillTx/>
                <a:latin typeface="Arial"/>
                <a:ea typeface="Arial"/>
              </a:rPr>
              <a:t>setTimeout</a:t>
            </a:r>
            <a:r>
              <a:rPr lang="en-US" sz="2200" b="0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(() =&gt; console.log("4: </a:t>
            </a:r>
            <a:r>
              <a:rPr lang="en-US" sz="2200" b="0" u="none" strike="noStrike" dirty="0" err="1">
                <a:solidFill>
                  <a:schemeClr val="dk1"/>
                </a:solidFill>
                <a:uFillTx/>
                <a:latin typeface="Arial"/>
                <a:ea typeface="Arial"/>
              </a:rPr>
              <a:t>setTimeout</a:t>
            </a:r>
            <a:r>
              <a:rPr lang="en-US" sz="2200" b="0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"), 0); </a:t>
            </a:r>
            <a:r>
              <a:rPr lang="en-US" sz="2200" b="0" u="none" strike="noStrike" dirty="0">
                <a:solidFill>
                  <a:srgbClr val="188038"/>
                </a:solidFill>
                <a:uFillTx/>
                <a:latin typeface="Arial"/>
                <a:ea typeface="Arial"/>
              </a:rPr>
              <a:t>// Goes to Callback Queue</a:t>
            </a: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 dirty="0" err="1">
                <a:solidFill>
                  <a:schemeClr val="dk1"/>
                </a:solidFill>
                <a:uFillTx/>
                <a:latin typeface="Arial"/>
                <a:ea typeface="Arial"/>
              </a:rPr>
              <a:t>Promise.resolve</a:t>
            </a:r>
            <a:r>
              <a:rPr lang="en-US" sz="2200" b="0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().then(() =&gt; console.log("3: Promise resolved")); /</a:t>
            </a:r>
            <a:r>
              <a:rPr lang="en-US" sz="2200" b="0" u="none" strike="noStrike" dirty="0">
                <a:solidFill>
                  <a:srgbClr val="188038"/>
                </a:solidFill>
                <a:uFillTx/>
                <a:latin typeface="Arial"/>
                <a:ea typeface="Arial"/>
              </a:rPr>
              <a:t>/ Goes to </a:t>
            </a:r>
            <a:r>
              <a:rPr lang="en-US" sz="2200" b="0" u="none" strike="noStrike" dirty="0" err="1">
                <a:solidFill>
                  <a:srgbClr val="188038"/>
                </a:solidFill>
                <a:uFillTx/>
                <a:latin typeface="Arial"/>
                <a:ea typeface="Arial"/>
              </a:rPr>
              <a:t>Microtask</a:t>
            </a:r>
            <a:r>
              <a:rPr lang="en-US" sz="2200" b="0" u="none" strike="noStrike" dirty="0">
                <a:solidFill>
                  <a:srgbClr val="188038"/>
                </a:solidFill>
                <a:uFillTx/>
                <a:latin typeface="Arial"/>
                <a:ea typeface="Arial"/>
              </a:rPr>
              <a:t> Queue</a:t>
            </a: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console.log("2: End");</a:t>
            </a: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2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chemeClr val="dk1"/>
                </a:solidFill>
                <a:uFillTx/>
                <a:latin typeface="Arial"/>
                <a:ea typeface="Arial"/>
              </a:rPr>
              <a:t>Output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88038"/>
                </a:solidFill>
                <a:uFillTx/>
                <a:latin typeface="Courier New"/>
                <a:ea typeface="Courier New"/>
              </a:rPr>
              <a:t>1: Start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88038"/>
                </a:solidFill>
                <a:uFillTx/>
                <a:latin typeface="Courier New"/>
                <a:ea typeface="Courier New"/>
              </a:rPr>
              <a:t>2: End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88038"/>
                </a:solidFill>
                <a:uFillTx/>
                <a:latin typeface="Courier New"/>
                <a:ea typeface="Courier New"/>
              </a:rPr>
              <a:t>3: Promise resolved  &lt;-- </a:t>
            </a:r>
            <a:r>
              <a:rPr lang="en-US" sz="2000" b="1" u="none" strike="noStrike" dirty="0" err="1">
                <a:solidFill>
                  <a:srgbClr val="188038"/>
                </a:solidFill>
                <a:uFillTx/>
                <a:latin typeface="Courier New"/>
                <a:ea typeface="Courier New"/>
              </a:rPr>
              <a:t>Microtask</a:t>
            </a:r>
            <a:r>
              <a:rPr lang="en-US" sz="2000" b="1" u="none" strike="noStrike" dirty="0">
                <a:solidFill>
                  <a:srgbClr val="188038"/>
                </a:solidFill>
                <a:uFillTx/>
                <a:latin typeface="Courier New"/>
                <a:ea typeface="Courier New"/>
              </a:rPr>
              <a:t> runs before </a:t>
            </a:r>
            <a:r>
              <a:rPr lang="en-US" sz="2000" b="1" u="none" strike="noStrike" dirty="0" err="1">
                <a:solidFill>
                  <a:srgbClr val="188038"/>
                </a:solidFill>
                <a:uFillTx/>
                <a:latin typeface="Courier New"/>
                <a:ea typeface="Courier New"/>
              </a:rPr>
              <a:t>setTimeout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188038"/>
                </a:solidFill>
                <a:uFillTx/>
                <a:latin typeface="Courier New"/>
                <a:ea typeface="Courier New"/>
              </a:rPr>
              <a:t>4: </a:t>
            </a:r>
            <a:r>
              <a:rPr lang="en-US" sz="2000" b="1" u="none" strike="noStrike" dirty="0" err="1">
                <a:solidFill>
                  <a:srgbClr val="188038"/>
                </a:solidFill>
                <a:uFillTx/>
                <a:latin typeface="Courier New"/>
                <a:ea typeface="Courier New"/>
              </a:rPr>
              <a:t>setTimeout</a:t>
            </a: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Immediately Invoked Function Expression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457200" indent="-320040">
              <a:lnSpc>
                <a:spcPct val="100000"/>
              </a:lnSpc>
              <a:spcBef>
                <a:spcPts val="1001"/>
              </a:spcBef>
              <a:buClr>
                <a:srgbClr val="EFF8FC"/>
              </a:buClr>
              <a:buFont typeface="Nunito"/>
              <a:buChar char="●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Nunito"/>
                <a:ea typeface="Nunito"/>
              </a:rPr>
              <a:t>Immediately Invoked Function Expressions (IIFE) are JavaScript functions that are executed immediately after they are defined.</a:t>
            </a:r>
            <a:endParaRPr lang="en-US" sz="20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84560" y="452880"/>
            <a:ext cx="7054200" cy="139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2"/>
                </a:solidFill>
                <a:uFillTx/>
                <a:latin typeface="Arial"/>
                <a:ea typeface="Arial"/>
              </a:rPr>
              <a:t>Immediately Invoked Function Expression</a:t>
            </a:r>
            <a:endParaRPr lang="en-US" sz="4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827640" y="2053080"/>
            <a:ext cx="6710400" cy="4194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// standard IIFE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(function () {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// statements…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})();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// arrow function variant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(() =&gt; {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// statements…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})();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// async IIFE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(async () =&gt; {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  // statements…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uFillTx/>
                <a:latin typeface="Arial"/>
                <a:ea typeface="Arial"/>
              </a:rPr>
              <a:t>})();</a:t>
            </a: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2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Ion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872</Words>
  <Application>Microsoft Office PowerPoint</Application>
  <PresentationFormat>On-screen Show (4:3)</PresentationFormat>
  <Paragraphs>147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29</vt:i4>
      </vt:variant>
      <vt:variant>
        <vt:lpstr>Slide Titles</vt:lpstr>
      </vt:variant>
      <vt:variant>
        <vt:i4>26</vt:i4>
      </vt:variant>
    </vt:vector>
  </HeadingPairs>
  <TitlesOfParts>
    <vt:vector size="68" baseType="lpstr">
      <vt:lpstr>Arial</vt:lpstr>
      <vt:lpstr>Calibri</vt:lpstr>
      <vt:lpstr>Consolas</vt:lpstr>
      <vt:lpstr>Courier New</vt:lpstr>
      <vt:lpstr>DejaVu Sans</vt:lpstr>
      <vt:lpstr>Noto Sans Symbols</vt:lpstr>
      <vt:lpstr>Nunito</vt:lpstr>
      <vt:lpstr>Roboto</vt:lpstr>
      <vt:lpstr>Roboto Mono</vt:lpstr>
      <vt:lpstr>Symbol</vt:lpstr>
      <vt:lpstr>Times New Roman</vt:lpstr>
      <vt:lpstr>Verdana</vt:lpstr>
      <vt:lpstr>Wingdings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Ion</vt:lpstr>
      <vt:lpstr>   Javascript - Callbacks, Promises, Async/await, Eventloop </vt:lpstr>
      <vt:lpstr>Callbacks</vt:lpstr>
      <vt:lpstr>Browser APIs</vt:lpstr>
      <vt:lpstr>Asynchronous </vt:lpstr>
      <vt:lpstr>Promises </vt:lpstr>
      <vt:lpstr>Fetch API</vt:lpstr>
      <vt:lpstr>Async/Await</vt:lpstr>
      <vt:lpstr>Async/Await</vt:lpstr>
      <vt:lpstr>Fetch api using JS</vt:lpstr>
      <vt:lpstr>Event Loop</vt:lpstr>
      <vt:lpstr>How Does Event Loop Works?</vt:lpstr>
      <vt:lpstr>Event Loop</vt:lpstr>
      <vt:lpstr>Event Loop</vt:lpstr>
      <vt:lpstr>Event Loop</vt:lpstr>
      <vt:lpstr>Event Loop</vt:lpstr>
      <vt:lpstr>Event Loop</vt:lpstr>
      <vt:lpstr>Event Loop</vt:lpstr>
      <vt:lpstr>Event Loop</vt:lpstr>
      <vt:lpstr>Event Loop</vt:lpstr>
      <vt:lpstr>Event Loop</vt:lpstr>
      <vt:lpstr>Event Loop</vt:lpstr>
      <vt:lpstr>Event Loop</vt:lpstr>
      <vt:lpstr>2 types of queues for callback</vt:lpstr>
      <vt:lpstr>Micro/Callback(Macro) Queue</vt:lpstr>
      <vt:lpstr>Immediately Invoked Function Expression</vt:lpstr>
      <vt:lpstr>Immediately Invoked Function Expression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Javascript - 3 Callbacks, Promises, Async/await, Eventloop </dc:title>
  <dc:subject/>
  <dc:creator/>
  <dc:description/>
  <cp:lastModifiedBy>usama_nadeem23@hotmail.com</cp:lastModifiedBy>
  <cp:revision>21</cp:revision>
  <dcterms:modified xsi:type="dcterms:W3CDTF">2025-09-30T06:42:54Z</dcterms:modified>
  <dc:language>en-US</dc:language>
</cp:coreProperties>
</file>